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Arial Bold" charset="1" panose="020B0704020202020204"/>
      <p:regular r:id="rId28"/>
    </p:embeddedFont>
    <p:embeddedFont>
      <p:font typeface="Calibri (MS)" charset="1" panose="020F0502020204030204"/>
      <p:regular r:id="rId29"/>
    </p:embeddedFont>
    <p:embeddedFont>
      <p:font typeface="Times New Roman" charset="1" panose="02020603050405020304"/>
      <p:regular r:id="rId30"/>
    </p:embeddedFont>
    <p:embeddedFont>
      <p:font typeface="Calibri (MS) Bold" charset="1" panose="020F0702030404030204"/>
      <p:regular r:id="rId34"/>
    </p:embeddedFont>
    <p:embeddedFont>
      <p:font typeface="Canva Sans Bold" charset="1" panose="020B0803030501040103"/>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fonts/font34.fntdata" Type="http://schemas.openxmlformats.org/officeDocument/2006/relationships/font"/><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png" Type="http://schemas.openxmlformats.org/officeDocument/2006/relationships/image"/><Relationship Id="rId4"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 Id="rId4" Target="../media/image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9.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 Id="rId4" Target="../media/image10.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1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66185" y="550602"/>
            <a:ext cx="1945481" cy="1920335"/>
            <a:chOff x="0" y="0"/>
            <a:chExt cx="2593975" cy="2560447"/>
          </a:xfrm>
        </p:grpSpPr>
        <p:sp>
          <p:nvSpPr>
            <p:cNvPr name="Freeform 3" id="3"/>
            <p:cNvSpPr/>
            <p:nvPr/>
          </p:nvSpPr>
          <p:spPr>
            <a:xfrm flipH="false" flipV="false" rot="0">
              <a:off x="0" y="0"/>
              <a:ext cx="2593975" cy="2560447"/>
            </a:xfrm>
            <a:custGeom>
              <a:avLst/>
              <a:gdLst/>
              <a:ahLst/>
              <a:cxnLst/>
              <a:rect r="r" b="b" t="t" l="l"/>
              <a:pathLst>
                <a:path h="2560447" w="2593975">
                  <a:moveTo>
                    <a:pt x="0" y="0"/>
                  </a:moveTo>
                  <a:lnTo>
                    <a:pt x="2593975" y="0"/>
                  </a:lnTo>
                  <a:lnTo>
                    <a:pt x="2593975" y="2560447"/>
                  </a:lnTo>
                  <a:lnTo>
                    <a:pt x="0" y="2560447"/>
                  </a:lnTo>
                  <a:lnTo>
                    <a:pt x="0" y="0"/>
                  </a:lnTo>
                  <a:close/>
                </a:path>
              </a:pathLst>
            </a:custGeom>
            <a:blipFill>
              <a:blip r:embed="rId2"/>
              <a:stretch>
                <a:fillRect l="0" t="-56" r="0" b="-56"/>
              </a:stretch>
            </a:blipFill>
          </p:spPr>
        </p:sp>
      </p:grpSp>
      <p:sp>
        <p:nvSpPr>
          <p:cNvPr name="TextBox 4" id="4"/>
          <p:cNvSpPr txBox="true"/>
          <p:nvPr/>
        </p:nvSpPr>
        <p:spPr>
          <a:xfrm rot="0">
            <a:off x="2551748" y="885701"/>
            <a:ext cx="12653962" cy="1373438"/>
          </a:xfrm>
          <a:prstGeom prst="rect">
            <a:avLst/>
          </a:prstGeom>
        </p:spPr>
        <p:txBody>
          <a:bodyPr anchor="t" rtlCol="false" tIns="0" lIns="0" bIns="0" rIns="0">
            <a:spAutoFit/>
          </a:bodyPr>
          <a:lstStyle/>
          <a:p>
            <a:pPr algn="ctr">
              <a:lnSpc>
                <a:spcPts val="5040"/>
              </a:lnSpc>
            </a:pPr>
            <a:r>
              <a:rPr lang="en-US" b="true" sz="4200" spc="-15">
                <a:solidFill>
                  <a:srgbClr val="001F5F"/>
                </a:solidFill>
                <a:latin typeface="Arial Bold"/>
                <a:ea typeface="Arial Bold"/>
                <a:cs typeface="Arial Bold"/>
                <a:sym typeface="Arial Bold"/>
              </a:rPr>
              <a:t>K.RAMAKRISHNAN COLLEGE OF ENGINEERING</a:t>
            </a:r>
          </a:p>
          <a:p>
            <a:pPr algn="ctr">
              <a:lnSpc>
                <a:spcPts val="3240"/>
              </a:lnSpc>
            </a:pPr>
            <a:r>
              <a:rPr lang="en-US" b="true" sz="2700" spc="-15">
                <a:solidFill>
                  <a:srgbClr val="FF0066"/>
                </a:solidFill>
                <a:latin typeface="Arial Bold"/>
                <a:ea typeface="Arial Bold"/>
                <a:cs typeface="Arial Bold"/>
                <a:sym typeface="Arial Bold"/>
              </a:rPr>
              <a:t>(AUTONOMOUS)</a:t>
            </a:r>
          </a:p>
        </p:txBody>
      </p:sp>
      <p:grpSp>
        <p:nvGrpSpPr>
          <p:cNvPr name="Group 5" id="5"/>
          <p:cNvGrpSpPr/>
          <p:nvPr/>
        </p:nvGrpSpPr>
        <p:grpSpPr>
          <a:xfrm rot="0">
            <a:off x="15118080" y="346139"/>
            <a:ext cx="2716911" cy="1964246"/>
            <a:chOff x="0" y="0"/>
            <a:chExt cx="3622548" cy="2618994"/>
          </a:xfrm>
        </p:grpSpPr>
        <p:sp>
          <p:nvSpPr>
            <p:cNvPr name="Freeform 6" id="6"/>
            <p:cNvSpPr/>
            <p:nvPr/>
          </p:nvSpPr>
          <p:spPr>
            <a:xfrm flipH="false" flipV="false" rot="0">
              <a:off x="0" y="0"/>
              <a:ext cx="3622548" cy="2618994"/>
            </a:xfrm>
            <a:custGeom>
              <a:avLst/>
              <a:gdLst/>
              <a:ahLst/>
              <a:cxnLst/>
              <a:rect r="r" b="b" t="t" l="l"/>
              <a:pathLst>
                <a:path h="2618994" w="3622548">
                  <a:moveTo>
                    <a:pt x="0" y="0"/>
                  </a:moveTo>
                  <a:lnTo>
                    <a:pt x="3622548" y="0"/>
                  </a:lnTo>
                  <a:lnTo>
                    <a:pt x="3622548" y="2618994"/>
                  </a:lnTo>
                  <a:lnTo>
                    <a:pt x="0" y="2618994"/>
                  </a:lnTo>
                  <a:lnTo>
                    <a:pt x="0" y="0"/>
                  </a:lnTo>
                  <a:close/>
                </a:path>
              </a:pathLst>
            </a:custGeom>
            <a:blipFill>
              <a:blip r:embed="rId3"/>
              <a:stretch>
                <a:fillRect l="0" t="-7" r="0" b="-7"/>
              </a:stretch>
            </a:blipFill>
          </p:spPr>
        </p:sp>
      </p:grpSp>
      <p:grpSp>
        <p:nvGrpSpPr>
          <p:cNvPr name="Group 7" id="7"/>
          <p:cNvGrpSpPr/>
          <p:nvPr/>
        </p:nvGrpSpPr>
        <p:grpSpPr>
          <a:xfrm rot="0">
            <a:off x="15270480" y="498539"/>
            <a:ext cx="2728150" cy="1972370"/>
            <a:chOff x="0" y="0"/>
            <a:chExt cx="3637534" cy="2629827"/>
          </a:xfrm>
        </p:grpSpPr>
        <p:sp>
          <p:nvSpPr>
            <p:cNvPr name="Freeform 8" id="8"/>
            <p:cNvSpPr/>
            <p:nvPr/>
          </p:nvSpPr>
          <p:spPr>
            <a:xfrm flipH="false" flipV="false" rot="0">
              <a:off x="0" y="0"/>
              <a:ext cx="3637534" cy="2629789"/>
            </a:xfrm>
            <a:custGeom>
              <a:avLst/>
              <a:gdLst/>
              <a:ahLst/>
              <a:cxnLst/>
              <a:rect r="r" b="b" t="t" l="l"/>
              <a:pathLst>
                <a:path h="2629789" w="3637534">
                  <a:moveTo>
                    <a:pt x="0" y="0"/>
                  </a:moveTo>
                  <a:lnTo>
                    <a:pt x="3637534" y="0"/>
                  </a:lnTo>
                  <a:lnTo>
                    <a:pt x="3637534" y="2629789"/>
                  </a:lnTo>
                  <a:lnTo>
                    <a:pt x="0" y="2629789"/>
                  </a:lnTo>
                  <a:lnTo>
                    <a:pt x="0" y="0"/>
                  </a:lnTo>
                  <a:close/>
                </a:path>
              </a:pathLst>
            </a:custGeom>
            <a:blipFill>
              <a:blip r:embed="rId3"/>
              <a:stretch>
                <a:fillRect l="0" t="-7" r="0" b="-9"/>
              </a:stretch>
            </a:blipFill>
          </p:spPr>
        </p:sp>
      </p:grpSp>
      <p:sp>
        <p:nvSpPr>
          <p:cNvPr name="TextBox 9" id="9"/>
          <p:cNvSpPr txBox="true"/>
          <p:nvPr/>
        </p:nvSpPr>
        <p:spPr>
          <a:xfrm rot="0">
            <a:off x="5471979" y="4614720"/>
            <a:ext cx="8178898" cy="2676525"/>
          </a:xfrm>
          <a:prstGeom prst="rect">
            <a:avLst/>
          </a:prstGeom>
        </p:spPr>
        <p:txBody>
          <a:bodyPr anchor="t" rtlCol="false" tIns="0" lIns="0" bIns="0" rIns="0">
            <a:spAutoFit/>
          </a:bodyPr>
          <a:lstStyle/>
          <a:p>
            <a:pPr algn="l">
              <a:lnSpc>
                <a:spcPts val="3600"/>
              </a:lnSpc>
            </a:pPr>
            <a:r>
              <a:rPr lang="en-US" sz="3000" b="true">
                <a:solidFill>
                  <a:srgbClr val="C00000"/>
                </a:solidFill>
                <a:latin typeface="Arial Bold"/>
                <a:ea typeface="Arial Bold"/>
                <a:cs typeface="Arial Bold"/>
                <a:sym typeface="Arial Bold"/>
              </a:rPr>
              <a:t>Presented by,</a:t>
            </a:r>
          </a:p>
          <a:p>
            <a:pPr algn="l">
              <a:lnSpc>
                <a:spcPts val="6480"/>
              </a:lnSpc>
            </a:pPr>
            <a:r>
              <a:rPr lang="en-US" sz="3600" b="true">
                <a:solidFill>
                  <a:srgbClr val="0000FF"/>
                </a:solidFill>
                <a:latin typeface="Arial Bold"/>
                <a:ea typeface="Arial Bold"/>
                <a:cs typeface="Arial Bold"/>
                <a:sym typeface="Arial Bold"/>
              </a:rPr>
              <a:t>Name               :   RAKSHITHA R </a:t>
            </a:r>
          </a:p>
          <a:p>
            <a:pPr algn="l">
              <a:lnSpc>
                <a:spcPts val="6480"/>
              </a:lnSpc>
            </a:pPr>
            <a:r>
              <a:rPr lang="en-US" sz="3600" b="true">
                <a:solidFill>
                  <a:srgbClr val="0000FF"/>
                </a:solidFill>
                <a:latin typeface="Arial Bold"/>
                <a:ea typeface="Arial Bold"/>
                <a:cs typeface="Arial Bold"/>
                <a:sym typeface="Arial Bold"/>
              </a:rPr>
              <a:t>Register No     :   8115U25IT091</a:t>
            </a:r>
          </a:p>
          <a:p>
            <a:pPr algn="l">
              <a:lnSpc>
                <a:spcPts val="4320"/>
              </a:lnSpc>
            </a:pPr>
            <a:r>
              <a:rPr lang="en-US" sz="3600" b="true">
                <a:solidFill>
                  <a:srgbClr val="0000FF"/>
                </a:solidFill>
                <a:latin typeface="Arial Bold"/>
                <a:ea typeface="Arial Bold"/>
                <a:cs typeface="Arial Bold"/>
                <a:sym typeface="Arial Bold"/>
              </a:rPr>
              <a:t>Roll No             :   F2549</a:t>
            </a:r>
          </a:p>
        </p:txBody>
      </p:sp>
      <p:sp>
        <p:nvSpPr>
          <p:cNvPr name="TextBox 10" id="10"/>
          <p:cNvSpPr txBox="true"/>
          <p:nvPr/>
        </p:nvSpPr>
        <p:spPr>
          <a:xfrm rot="0">
            <a:off x="5471979" y="7447159"/>
            <a:ext cx="5551856" cy="600075"/>
          </a:xfrm>
          <a:prstGeom prst="rect">
            <a:avLst/>
          </a:prstGeom>
        </p:spPr>
        <p:txBody>
          <a:bodyPr anchor="t" rtlCol="false" tIns="0" lIns="0" bIns="0" rIns="0">
            <a:spAutoFit/>
          </a:bodyPr>
          <a:lstStyle/>
          <a:p>
            <a:pPr algn="l">
              <a:lnSpc>
                <a:spcPts val="4320"/>
              </a:lnSpc>
            </a:pPr>
            <a:r>
              <a:rPr lang="en-US" sz="3600" b="true">
                <a:solidFill>
                  <a:srgbClr val="0000FF"/>
                </a:solidFill>
                <a:latin typeface="Arial Bold"/>
                <a:ea typeface="Arial Bold"/>
                <a:cs typeface="Arial Bold"/>
                <a:sym typeface="Arial Bold"/>
              </a:rPr>
              <a:t>Year &amp; Section :  I &amp; B</a:t>
            </a:r>
          </a:p>
        </p:txBody>
      </p:sp>
      <p:sp>
        <p:nvSpPr>
          <p:cNvPr name="TextBox 11" id="11"/>
          <p:cNvSpPr txBox="true"/>
          <p:nvPr/>
        </p:nvSpPr>
        <p:spPr>
          <a:xfrm rot="0">
            <a:off x="4657468" y="3015672"/>
            <a:ext cx="9807912" cy="823465"/>
          </a:xfrm>
          <a:prstGeom prst="rect">
            <a:avLst/>
          </a:prstGeom>
        </p:spPr>
        <p:txBody>
          <a:bodyPr anchor="t" rtlCol="false" tIns="0" lIns="0" bIns="0" rIns="0">
            <a:spAutoFit/>
          </a:bodyPr>
          <a:lstStyle/>
          <a:p>
            <a:pPr algn="l">
              <a:lnSpc>
                <a:spcPts val="6062"/>
              </a:lnSpc>
            </a:pPr>
            <a:r>
              <a:rPr lang="en-US" sz="5051" b="true">
                <a:solidFill>
                  <a:srgbClr val="000000"/>
                </a:solidFill>
                <a:latin typeface="Arial Bold"/>
                <a:ea typeface="Arial Bold"/>
                <a:cs typeface="Arial Bold"/>
                <a:sym typeface="Arial Bold"/>
              </a:rPr>
              <a:t>2048 GAME DEVELOPMENT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045247" y="1244051"/>
            <a:ext cx="10130518" cy="1038225"/>
          </a:xfrm>
          <a:prstGeom prst="rect">
            <a:avLst/>
          </a:prstGeom>
        </p:spPr>
        <p:txBody>
          <a:bodyPr anchor="t" rtlCol="false" tIns="0" lIns="0" bIns="0" rIns="0">
            <a:spAutoFit/>
          </a:bodyPr>
          <a:lstStyle/>
          <a:p>
            <a:pPr algn="l">
              <a:lnSpc>
                <a:spcPts val="7200"/>
              </a:lnSpc>
            </a:pPr>
            <a:r>
              <a:rPr lang="en-US" sz="6000">
                <a:solidFill>
                  <a:srgbClr val="000000"/>
                </a:solidFill>
                <a:latin typeface="Calibri (MS)"/>
                <a:ea typeface="Calibri (MS)"/>
                <a:cs typeface="Calibri (MS)"/>
                <a:sym typeface="Calibri (MS)"/>
              </a:rPr>
              <a:t>Introduction</a:t>
            </a:r>
          </a:p>
        </p:txBody>
      </p:sp>
      <p:grpSp>
        <p:nvGrpSpPr>
          <p:cNvPr name="Group 3" id="3"/>
          <p:cNvGrpSpPr/>
          <p:nvPr/>
        </p:nvGrpSpPr>
        <p:grpSpPr>
          <a:xfrm rot="0">
            <a:off x="566185" y="550602"/>
            <a:ext cx="1945481" cy="1920335"/>
            <a:chOff x="0" y="0"/>
            <a:chExt cx="2593975" cy="2560447"/>
          </a:xfrm>
        </p:grpSpPr>
        <p:sp>
          <p:nvSpPr>
            <p:cNvPr name="Freeform 4" id="4"/>
            <p:cNvSpPr/>
            <p:nvPr/>
          </p:nvSpPr>
          <p:spPr>
            <a:xfrm flipH="false" flipV="false" rot="0">
              <a:off x="0" y="0"/>
              <a:ext cx="2593975" cy="2560447"/>
            </a:xfrm>
            <a:custGeom>
              <a:avLst/>
              <a:gdLst/>
              <a:ahLst/>
              <a:cxnLst/>
              <a:rect r="r" b="b" t="t" l="l"/>
              <a:pathLst>
                <a:path h="2560447" w="2593975">
                  <a:moveTo>
                    <a:pt x="0" y="0"/>
                  </a:moveTo>
                  <a:lnTo>
                    <a:pt x="2593975" y="0"/>
                  </a:lnTo>
                  <a:lnTo>
                    <a:pt x="2593975" y="2560447"/>
                  </a:lnTo>
                  <a:lnTo>
                    <a:pt x="0" y="2560447"/>
                  </a:lnTo>
                  <a:lnTo>
                    <a:pt x="0" y="0"/>
                  </a:lnTo>
                  <a:close/>
                </a:path>
              </a:pathLst>
            </a:custGeom>
            <a:blipFill>
              <a:blip r:embed="rId2"/>
              <a:stretch>
                <a:fillRect l="0" t="-56" r="0" b="-56"/>
              </a:stretch>
            </a:blipFill>
          </p:spPr>
        </p:sp>
      </p:grpSp>
      <p:grpSp>
        <p:nvGrpSpPr>
          <p:cNvPr name="Group 5" id="5"/>
          <p:cNvGrpSpPr/>
          <p:nvPr/>
        </p:nvGrpSpPr>
        <p:grpSpPr>
          <a:xfrm rot="0">
            <a:off x="15270480" y="498539"/>
            <a:ext cx="2716911" cy="1964246"/>
            <a:chOff x="0" y="0"/>
            <a:chExt cx="3622548" cy="2618994"/>
          </a:xfrm>
        </p:grpSpPr>
        <p:sp>
          <p:nvSpPr>
            <p:cNvPr name="Freeform 6" id="6"/>
            <p:cNvSpPr/>
            <p:nvPr/>
          </p:nvSpPr>
          <p:spPr>
            <a:xfrm flipH="false" flipV="false" rot="0">
              <a:off x="0" y="0"/>
              <a:ext cx="3622548" cy="2618994"/>
            </a:xfrm>
            <a:custGeom>
              <a:avLst/>
              <a:gdLst/>
              <a:ahLst/>
              <a:cxnLst/>
              <a:rect r="r" b="b" t="t" l="l"/>
              <a:pathLst>
                <a:path h="2618994" w="3622548">
                  <a:moveTo>
                    <a:pt x="0" y="0"/>
                  </a:moveTo>
                  <a:lnTo>
                    <a:pt x="3622548" y="0"/>
                  </a:lnTo>
                  <a:lnTo>
                    <a:pt x="3622548" y="2618994"/>
                  </a:lnTo>
                  <a:lnTo>
                    <a:pt x="0" y="2618994"/>
                  </a:lnTo>
                  <a:lnTo>
                    <a:pt x="0" y="0"/>
                  </a:lnTo>
                  <a:close/>
                </a:path>
              </a:pathLst>
            </a:custGeom>
            <a:blipFill>
              <a:blip r:embed="rId3"/>
              <a:stretch>
                <a:fillRect l="0" t="-7" r="0" b="-7"/>
              </a:stretch>
            </a:blipFill>
          </p:spPr>
        </p:sp>
      </p:grpSp>
      <p:sp>
        <p:nvSpPr>
          <p:cNvPr name="TextBox 7" id="7"/>
          <p:cNvSpPr txBox="true"/>
          <p:nvPr/>
        </p:nvSpPr>
        <p:spPr>
          <a:xfrm rot="0">
            <a:off x="2511666" y="2587930"/>
            <a:ext cx="13446109" cy="3519744"/>
          </a:xfrm>
          <a:prstGeom prst="rect">
            <a:avLst/>
          </a:prstGeom>
        </p:spPr>
        <p:txBody>
          <a:bodyPr anchor="t" rtlCol="false" tIns="0" lIns="0" bIns="0" rIns="0">
            <a:spAutoFit/>
          </a:bodyPr>
          <a:lstStyle/>
          <a:p>
            <a:pPr algn="l">
              <a:lnSpc>
                <a:spcPts val="3920"/>
              </a:lnSpc>
            </a:pPr>
            <a:r>
              <a:rPr lang="en-US" sz="2799">
                <a:solidFill>
                  <a:srgbClr val="000000"/>
                </a:solidFill>
                <a:latin typeface="Calibri (MS)"/>
                <a:ea typeface="Calibri (MS)"/>
                <a:cs typeface="Calibri (MS)"/>
                <a:sym typeface="Calibri (MS)"/>
              </a:rPr>
              <a:t>2048 is a popular single-player puzzle game created by Gabriele Cirulli in 2014. The game is played on a 4×4 grid where the player slides numbered tiles in four directions (up, down, left, and right). When two tiles with the same number collide, they merge into one tile with their combined value. The main objective is to create a tile with the number 2048. The game requires logical thinking, planning, and strategy to achieve higher scores and avoid filling up the grid. Due to its simple rules and challenging gameplay, 2048 has become one of the most popular puzzle games worldwide.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026788" y="1244051"/>
            <a:ext cx="8233581" cy="1038225"/>
          </a:xfrm>
          <a:prstGeom prst="rect">
            <a:avLst/>
          </a:prstGeom>
        </p:spPr>
        <p:txBody>
          <a:bodyPr anchor="t" rtlCol="false" tIns="0" lIns="0" bIns="0" rIns="0">
            <a:spAutoFit/>
          </a:bodyPr>
          <a:lstStyle/>
          <a:p>
            <a:pPr algn="l">
              <a:lnSpc>
                <a:spcPts val="7200"/>
              </a:lnSpc>
            </a:pPr>
            <a:r>
              <a:rPr lang="en-US" sz="6000">
                <a:solidFill>
                  <a:srgbClr val="000000"/>
                </a:solidFill>
                <a:latin typeface="Calibri (MS)"/>
                <a:ea typeface="Calibri (MS)"/>
                <a:cs typeface="Calibri (MS)"/>
                <a:sym typeface="Calibri (MS)"/>
              </a:rPr>
              <a:t>Abstract</a:t>
            </a:r>
          </a:p>
        </p:txBody>
      </p:sp>
      <p:sp>
        <p:nvSpPr>
          <p:cNvPr name="TextBox 3" id="3"/>
          <p:cNvSpPr txBox="true"/>
          <p:nvPr/>
        </p:nvSpPr>
        <p:spPr>
          <a:xfrm rot="0">
            <a:off x="2511666" y="2819972"/>
            <a:ext cx="12114828" cy="5514975"/>
          </a:xfrm>
          <a:prstGeom prst="rect">
            <a:avLst/>
          </a:prstGeom>
        </p:spPr>
        <p:txBody>
          <a:bodyPr anchor="t" rtlCol="false" tIns="0" lIns="0" bIns="0" rIns="0">
            <a:spAutoFit/>
          </a:bodyPr>
          <a:lstStyle/>
          <a:p>
            <a:pPr algn="l">
              <a:lnSpc>
                <a:spcPts val="3359"/>
              </a:lnSpc>
            </a:pPr>
            <a:r>
              <a:rPr lang="en-US" sz="2799">
                <a:solidFill>
                  <a:srgbClr val="000000"/>
                </a:solidFill>
                <a:latin typeface="Calibri (MS)"/>
                <a:ea typeface="Calibri (MS)"/>
                <a:cs typeface="Calibri (MS)"/>
                <a:sym typeface="Calibri (MS)"/>
              </a:rPr>
              <a:t>The 2048 Game is a simple yet challenging puzzle game played on a 4×4 grid. The player combines tiles with the same numbers to create higher-value tiles, aiming to reach the number 2048. The game improves logical thinking, problem-solving skills, concentration, and strategic planning. Its easy-to-understand rules and engaging gameplay make it popular among people of all ages. The game continues until no more moves are possible or the player successfully creates the 2048 tile.</a:t>
            </a:r>
          </a:p>
          <a:p>
            <a:pPr algn="l">
              <a:lnSpc>
                <a:spcPts val="3359"/>
              </a:lnSpc>
            </a:pPr>
          </a:p>
          <a:p>
            <a:pPr algn="l">
              <a:lnSpc>
                <a:spcPts val="3359"/>
              </a:lnSpc>
            </a:pPr>
            <a:r>
              <a:rPr lang="en-US" sz="2799">
                <a:solidFill>
                  <a:srgbClr val="000000"/>
                </a:solidFill>
                <a:latin typeface="Calibri (MS)"/>
                <a:ea typeface="Calibri (MS)"/>
                <a:cs typeface="Calibri (MS)"/>
                <a:sym typeface="Calibri (MS)"/>
              </a:rPr>
              <a:t>The 2048 Game is a simple yet challenging puzzle game played on a 4×4 grid. The player combines tiles with the same numbers to create higher-value tiles, aiming to reach the number 2048. The game improves logical thinking, problem-solving skills, concentration, and strategic planning. Its easy-to-understand rules and engaging gameplay make it popular among people of all ages. The game continues until no more moves are possible or the player successfully creates the 2048 tile.</a:t>
            </a:r>
          </a:p>
        </p:txBody>
      </p:sp>
      <p:grpSp>
        <p:nvGrpSpPr>
          <p:cNvPr name="Group 4" id="4"/>
          <p:cNvGrpSpPr/>
          <p:nvPr/>
        </p:nvGrpSpPr>
        <p:grpSpPr>
          <a:xfrm rot="0">
            <a:off x="566185" y="550602"/>
            <a:ext cx="1945481" cy="1920335"/>
            <a:chOff x="0" y="0"/>
            <a:chExt cx="2593975" cy="2560447"/>
          </a:xfrm>
        </p:grpSpPr>
        <p:sp>
          <p:nvSpPr>
            <p:cNvPr name="Freeform 5" id="5"/>
            <p:cNvSpPr/>
            <p:nvPr/>
          </p:nvSpPr>
          <p:spPr>
            <a:xfrm flipH="false" flipV="false" rot="0">
              <a:off x="0" y="0"/>
              <a:ext cx="2593975" cy="2560447"/>
            </a:xfrm>
            <a:custGeom>
              <a:avLst/>
              <a:gdLst/>
              <a:ahLst/>
              <a:cxnLst/>
              <a:rect r="r" b="b" t="t" l="l"/>
              <a:pathLst>
                <a:path h="2560447" w="2593975">
                  <a:moveTo>
                    <a:pt x="0" y="0"/>
                  </a:moveTo>
                  <a:lnTo>
                    <a:pt x="2593975" y="0"/>
                  </a:lnTo>
                  <a:lnTo>
                    <a:pt x="2593975" y="2560447"/>
                  </a:lnTo>
                  <a:lnTo>
                    <a:pt x="0" y="2560447"/>
                  </a:lnTo>
                  <a:lnTo>
                    <a:pt x="0" y="0"/>
                  </a:lnTo>
                  <a:close/>
                </a:path>
              </a:pathLst>
            </a:custGeom>
            <a:blipFill>
              <a:blip r:embed="rId2"/>
              <a:stretch>
                <a:fillRect l="0" t="-56" r="0" b="-56"/>
              </a:stretch>
            </a:blipFill>
          </p:spPr>
        </p:sp>
      </p:grpSp>
      <p:grpSp>
        <p:nvGrpSpPr>
          <p:cNvPr name="Group 6" id="6"/>
          <p:cNvGrpSpPr/>
          <p:nvPr/>
        </p:nvGrpSpPr>
        <p:grpSpPr>
          <a:xfrm rot="0">
            <a:off x="15270480" y="498539"/>
            <a:ext cx="2716911" cy="1964246"/>
            <a:chOff x="0" y="0"/>
            <a:chExt cx="3622548" cy="2618994"/>
          </a:xfrm>
        </p:grpSpPr>
        <p:sp>
          <p:nvSpPr>
            <p:cNvPr name="Freeform 7" id="7"/>
            <p:cNvSpPr/>
            <p:nvPr/>
          </p:nvSpPr>
          <p:spPr>
            <a:xfrm flipH="false" flipV="false" rot="0">
              <a:off x="0" y="0"/>
              <a:ext cx="3622548" cy="2618994"/>
            </a:xfrm>
            <a:custGeom>
              <a:avLst/>
              <a:gdLst/>
              <a:ahLst/>
              <a:cxnLst/>
              <a:rect r="r" b="b" t="t" l="l"/>
              <a:pathLst>
                <a:path h="2618994" w="3622548">
                  <a:moveTo>
                    <a:pt x="0" y="0"/>
                  </a:moveTo>
                  <a:lnTo>
                    <a:pt x="3622548" y="0"/>
                  </a:lnTo>
                  <a:lnTo>
                    <a:pt x="3622548" y="2618994"/>
                  </a:lnTo>
                  <a:lnTo>
                    <a:pt x="0" y="2618994"/>
                  </a:lnTo>
                  <a:lnTo>
                    <a:pt x="0" y="0"/>
                  </a:lnTo>
                  <a:close/>
                </a:path>
              </a:pathLst>
            </a:custGeom>
            <a:blipFill>
              <a:blip r:embed="rId3"/>
              <a:stretch>
                <a:fillRect l="0" t="-7" r="0" b="-7"/>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8222" y="538791"/>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2"/>
              <a:stretch>
                <a:fillRect l="0" t="-57" r="0" b="-57"/>
              </a:stretch>
            </a:blipFill>
          </p:spPr>
        </p:sp>
      </p:grpSp>
      <p:grpSp>
        <p:nvGrpSpPr>
          <p:cNvPr name="Group 4" id="4"/>
          <p:cNvGrpSpPr/>
          <p:nvPr/>
        </p:nvGrpSpPr>
        <p:grpSpPr>
          <a:xfrm rot="0">
            <a:off x="15792288" y="464706"/>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6" id="6"/>
          <p:cNvSpPr txBox="true"/>
          <p:nvPr/>
        </p:nvSpPr>
        <p:spPr>
          <a:xfrm rot="0">
            <a:off x="-3030279" y="1195492"/>
            <a:ext cx="17162221" cy="915622"/>
          </a:xfrm>
          <a:prstGeom prst="rect">
            <a:avLst/>
          </a:prstGeom>
        </p:spPr>
        <p:txBody>
          <a:bodyPr anchor="t" rtlCol="false" tIns="0" lIns="0" bIns="0" rIns="0">
            <a:spAutoFit/>
          </a:bodyPr>
          <a:lstStyle/>
          <a:p>
            <a:pPr algn="ctr">
              <a:lnSpc>
                <a:spcPts val="7280"/>
              </a:lnSpc>
            </a:pPr>
            <a:r>
              <a:rPr lang="en-US" sz="5199">
                <a:solidFill>
                  <a:srgbClr val="000000"/>
                </a:solidFill>
                <a:latin typeface="Times New Roman"/>
                <a:ea typeface="Times New Roman"/>
                <a:cs typeface="Times New Roman"/>
                <a:sym typeface="Times New Roman"/>
              </a:rPr>
              <a:t>OBJECTIVES</a:t>
            </a:r>
          </a:p>
        </p:txBody>
      </p:sp>
      <p:sp>
        <p:nvSpPr>
          <p:cNvPr name="TextBox 7" id="7"/>
          <p:cNvSpPr txBox="true"/>
          <p:nvPr/>
        </p:nvSpPr>
        <p:spPr>
          <a:xfrm rot="0">
            <a:off x="2369753" y="2523502"/>
            <a:ext cx="13422535" cy="4015070"/>
          </a:xfrm>
          <a:prstGeom prst="rect">
            <a:avLst/>
          </a:prstGeom>
        </p:spPr>
        <p:txBody>
          <a:bodyPr anchor="t" rtlCol="false" tIns="0" lIns="0" bIns="0" rIns="0">
            <a:spAutoFit/>
          </a:bodyPr>
          <a:lstStyle/>
          <a:p>
            <a:pPr algn="l" marL="640116" indent="-213372" lvl="2">
              <a:lnSpc>
                <a:spcPts val="3920"/>
              </a:lnSpc>
              <a:buFont typeface="Arial"/>
              <a:buChar char="⚬"/>
            </a:pPr>
            <a:r>
              <a:rPr lang="en-US" sz="2799">
                <a:solidFill>
                  <a:srgbClr val="000000"/>
                </a:solidFill>
                <a:latin typeface="Calibri (MS)"/>
                <a:ea typeface="Calibri (MS)"/>
                <a:cs typeface="Calibri (MS)"/>
                <a:sym typeface="Calibri (MS)"/>
              </a:rPr>
              <a:t>To create a tile with the value 2048 by merging identical numbered tiles.</a:t>
            </a:r>
          </a:p>
          <a:p>
            <a:pPr algn="l" marL="640116" indent="-213372" lvl="2">
              <a:lnSpc>
                <a:spcPts val="3920"/>
              </a:lnSpc>
              <a:buFont typeface="Arial"/>
              <a:buChar char="⚬"/>
            </a:pPr>
            <a:r>
              <a:rPr lang="en-US" sz="2799">
                <a:solidFill>
                  <a:srgbClr val="000000"/>
                </a:solidFill>
                <a:latin typeface="Calibri (MS)"/>
                <a:ea typeface="Calibri (MS)"/>
                <a:cs typeface="Calibri (MS)"/>
                <a:sym typeface="Calibri (MS)"/>
              </a:rPr>
              <a:t>To improve logical and strategic thinking skills.</a:t>
            </a:r>
          </a:p>
          <a:p>
            <a:pPr algn="l" marL="640116" indent="-213372" lvl="2">
              <a:lnSpc>
                <a:spcPts val="3920"/>
              </a:lnSpc>
              <a:buFont typeface="Arial"/>
              <a:buChar char="⚬"/>
            </a:pPr>
            <a:r>
              <a:rPr lang="en-US" sz="2799">
                <a:solidFill>
                  <a:srgbClr val="000000"/>
                </a:solidFill>
                <a:latin typeface="Calibri (MS)"/>
                <a:ea typeface="Calibri (MS)"/>
                <a:cs typeface="Calibri (MS)"/>
                <a:sym typeface="Calibri (MS)"/>
              </a:rPr>
              <a:t>To enhance problem-solving abilities through planning and decision-making.</a:t>
            </a:r>
          </a:p>
          <a:p>
            <a:pPr algn="l" marL="640116" indent="-213372" lvl="2">
              <a:lnSpc>
                <a:spcPts val="3920"/>
              </a:lnSpc>
              <a:buFont typeface="Arial"/>
              <a:buChar char="⚬"/>
            </a:pPr>
            <a:r>
              <a:rPr lang="en-US" sz="2799">
                <a:solidFill>
                  <a:srgbClr val="000000"/>
                </a:solidFill>
                <a:latin typeface="Calibri (MS)"/>
                <a:ea typeface="Calibri (MS)"/>
                <a:cs typeface="Calibri (MS)"/>
                <a:sym typeface="Calibri (MS)"/>
              </a:rPr>
              <a:t>To develop concentration and focus while playing.</a:t>
            </a:r>
          </a:p>
          <a:p>
            <a:pPr algn="l" marL="640116" indent="-213372" lvl="2">
              <a:lnSpc>
                <a:spcPts val="3920"/>
              </a:lnSpc>
              <a:buFont typeface="Arial"/>
              <a:buChar char="⚬"/>
            </a:pPr>
            <a:r>
              <a:rPr lang="en-US" sz="2799">
                <a:solidFill>
                  <a:srgbClr val="000000"/>
                </a:solidFill>
                <a:latin typeface="Calibri (MS)"/>
                <a:ea typeface="Calibri (MS)"/>
                <a:cs typeface="Calibri (MS)"/>
                <a:sym typeface="Calibri (MS)"/>
              </a:rPr>
              <a:t>To achieve the highest possible score by creating larger numbered tiles.</a:t>
            </a:r>
          </a:p>
          <a:p>
            <a:pPr algn="l" marL="640116" indent="-213372" lvl="2">
              <a:lnSpc>
                <a:spcPts val="3920"/>
              </a:lnSpc>
              <a:buFont typeface="Arial"/>
              <a:buChar char="⚬"/>
            </a:pPr>
            <a:r>
              <a:rPr lang="en-US" sz="2799">
                <a:solidFill>
                  <a:srgbClr val="000000"/>
                </a:solidFill>
                <a:latin typeface="Calibri (MS)"/>
                <a:ea typeface="Calibri (MS)"/>
                <a:cs typeface="Calibri (MS)"/>
                <a:sym typeface="Calibri (MS)"/>
              </a:rPr>
              <a:t>To efficiently manage the available grid space and avoid game over.</a:t>
            </a:r>
          </a:p>
          <a:p>
            <a:pPr algn="l" marL="640116" indent="-213372" lvl="2">
              <a:lnSpc>
                <a:spcPts val="3920"/>
              </a:lnSpc>
              <a:buFont typeface="Arial"/>
              <a:buChar char="⚬"/>
            </a:pPr>
            <a:r>
              <a:rPr lang="en-US" sz="2799">
                <a:solidFill>
                  <a:srgbClr val="000000"/>
                </a:solidFill>
                <a:latin typeface="Calibri (MS)"/>
                <a:ea typeface="Calibri (MS)"/>
                <a:cs typeface="Calibri (MS)"/>
                <a:sym typeface="Calibri (MS)"/>
              </a:rPr>
              <a:t>To provide an enjoyable and challenging puzzle gaming experience.</a:t>
            </a:r>
          </a:p>
          <a:p>
            <a:pPr algn="l" marL="640116" indent="-213372" lvl="2">
              <a:lnSpc>
                <a:spcPts val="3920"/>
              </a:lnSpc>
              <a:buFont typeface="Arial"/>
              <a:buChar char="⚬"/>
            </a:pPr>
            <a:r>
              <a:rPr lang="en-US" sz="2799">
                <a:solidFill>
                  <a:srgbClr val="000000"/>
                </a:solidFill>
                <a:latin typeface="Calibri (MS)"/>
                <a:ea typeface="Calibri (MS)"/>
                <a:cs typeface="Calibri (MS)"/>
                <a:sym typeface="Calibri (MS)"/>
              </a:rPr>
              <a:t>To improve analytical and cognitive skills through continuous gameplay.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66185" y="550602"/>
            <a:ext cx="1945481" cy="1920335"/>
            <a:chOff x="0" y="0"/>
            <a:chExt cx="2593975" cy="2560447"/>
          </a:xfrm>
        </p:grpSpPr>
        <p:sp>
          <p:nvSpPr>
            <p:cNvPr name="Freeform 3" id="3"/>
            <p:cNvSpPr/>
            <p:nvPr/>
          </p:nvSpPr>
          <p:spPr>
            <a:xfrm flipH="false" flipV="false" rot="0">
              <a:off x="0" y="0"/>
              <a:ext cx="2593975" cy="2560447"/>
            </a:xfrm>
            <a:custGeom>
              <a:avLst/>
              <a:gdLst/>
              <a:ahLst/>
              <a:cxnLst/>
              <a:rect r="r" b="b" t="t" l="l"/>
              <a:pathLst>
                <a:path h="2560447" w="2593975">
                  <a:moveTo>
                    <a:pt x="0" y="0"/>
                  </a:moveTo>
                  <a:lnTo>
                    <a:pt x="2593975" y="0"/>
                  </a:lnTo>
                  <a:lnTo>
                    <a:pt x="2593975" y="2560447"/>
                  </a:lnTo>
                  <a:lnTo>
                    <a:pt x="0" y="2560447"/>
                  </a:lnTo>
                  <a:lnTo>
                    <a:pt x="0" y="0"/>
                  </a:lnTo>
                  <a:close/>
                </a:path>
              </a:pathLst>
            </a:custGeom>
            <a:blipFill>
              <a:blip r:embed="rId2"/>
              <a:stretch>
                <a:fillRect l="0" t="-56" r="0" b="-56"/>
              </a:stretch>
            </a:blipFill>
          </p:spPr>
        </p:sp>
      </p:grpSp>
      <p:grpSp>
        <p:nvGrpSpPr>
          <p:cNvPr name="Group 4" id="4"/>
          <p:cNvGrpSpPr/>
          <p:nvPr/>
        </p:nvGrpSpPr>
        <p:grpSpPr>
          <a:xfrm rot="0">
            <a:off x="15238495" y="346139"/>
            <a:ext cx="2528792" cy="1934147"/>
            <a:chOff x="0" y="0"/>
            <a:chExt cx="3371723" cy="2578862"/>
          </a:xfrm>
        </p:grpSpPr>
        <p:sp>
          <p:nvSpPr>
            <p:cNvPr name="Freeform 5" id="5"/>
            <p:cNvSpPr/>
            <p:nvPr/>
          </p:nvSpPr>
          <p:spPr>
            <a:xfrm flipH="false" flipV="false" rot="0">
              <a:off x="0" y="0"/>
              <a:ext cx="3371723" cy="2578862"/>
            </a:xfrm>
            <a:custGeom>
              <a:avLst/>
              <a:gdLst/>
              <a:ahLst/>
              <a:cxnLst/>
              <a:rect r="r" b="b" t="t" l="l"/>
              <a:pathLst>
                <a:path h="2578862" w="3371723">
                  <a:moveTo>
                    <a:pt x="0" y="0"/>
                  </a:moveTo>
                  <a:lnTo>
                    <a:pt x="3371723" y="0"/>
                  </a:lnTo>
                  <a:lnTo>
                    <a:pt x="3371723" y="2578862"/>
                  </a:lnTo>
                  <a:lnTo>
                    <a:pt x="0" y="2578862"/>
                  </a:lnTo>
                  <a:lnTo>
                    <a:pt x="0" y="0"/>
                  </a:lnTo>
                  <a:close/>
                </a:path>
              </a:pathLst>
            </a:custGeom>
            <a:blipFill>
              <a:blip r:embed="rId3"/>
              <a:stretch>
                <a:fillRect l="0" t="-54" r="0" b="-53"/>
              </a:stretch>
            </a:blipFill>
          </p:spPr>
        </p:sp>
      </p:grpSp>
      <p:sp>
        <p:nvSpPr>
          <p:cNvPr name="TextBox 6" id="6"/>
          <p:cNvSpPr txBox="true"/>
          <p:nvPr/>
        </p:nvSpPr>
        <p:spPr>
          <a:xfrm rot="0">
            <a:off x="2511666" y="2771775"/>
            <a:ext cx="12726829" cy="4676775"/>
          </a:xfrm>
          <a:prstGeom prst="rect">
            <a:avLst/>
          </a:prstGeom>
        </p:spPr>
        <p:txBody>
          <a:bodyPr anchor="t" rtlCol="false" tIns="0" lIns="0" bIns="0" rIns="0">
            <a:spAutoFit/>
          </a:bodyPr>
          <a:lstStyle/>
          <a:p>
            <a:pPr algn="l" marL="640100" indent="-213367" lvl="2">
              <a:lnSpc>
                <a:spcPts val="3359"/>
              </a:lnSpc>
              <a:buFont typeface="Arial"/>
              <a:buChar char="⚬"/>
            </a:pPr>
            <a:r>
              <a:rPr lang="en-US" sz="2799">
                <a:solidFill>
                  <a:srgbClr val="000000"/>
                </a:solidFill>
                <a:latin typeface="Calibri (MS)"/>
                <a:ea typeface="Calibri (MS)"/>
                <a:cs typeface="Calibri (MS)"/>
                <a:sym typeface="Calibri (MS)"/>
              </a:rPr>
              <a:t>2048 is a number-based puzzle game played on a 4×4 grid.</a:t>
            </a:r>
          </a:p>
          <a:p>
            <a:pPr algn="l" marL="640100" indent="-213367" lvl="2">
              <a:lnSpc>
                <a:spcPts val="3359"/>
              </a:lnSpc>
              <a:buFont typeface="Arial"/>
              <a:buChar char="⚬"/>
            </a:pPr>
            <a:r>
              <a:rPr lang="en-US" sz="2799">
                <a:solidFill>
                  <a:srgbClr val="000000"/>
                </a:solidFill>
                <a:latin typeface="Calibri (MS)"/>
                <a:ea typeface="Calibri (MS)"/>
                <a:cs typeface="Calibri (MS)"/>
                <a:sym typeface="Calibri (MS)"/>
              </a:rPr>
              <a:t>The player combines tiles with the same numbers to create larger values.</a:t>
            </a:r>
          </a:p>
          <a:p>
            <a:pPr algn="l" marL="640100" indent="-213367" lvl="2">
              <a:lnSpc>
                <a:spcPts val="3359"/>
              </a:lnSpc>
              <a:buFont typeface="Arial"/>
              <a:buChar char="⚬"/>
            </a:pPr>
            <a:r>
              <a:rPr lang="en-US" sz="2799">
                <a:solidFill>
                  <a:srgbClr val="000000"/>
                </a:solidFill>
                <a:latin typeface="Calibri (MS)"/>
                <a:ea typeface="Calibri (MS)"/>
                <a:cs typeface="Calibri (MS)"/>
                <a:sym typeface="Calibri (MS)"/>
              </a:rPr>
              <a:t>The main objective is to reach the 2048 tile.</a:t>
            </a:r>
          </a:p>
          <a:p>
            <a:pPr algn="l" marL="640100" indent="-213367" lvl="2">
              <a:lnSpc>
                <a:spcPts val="3359"/>
              </a:lnSpc>
              <a:buFont typeface="Arial"/>
              <a:buChar char="⚬"/>
            </a:pPr>
            <a:r>
              <a:rPr lang="en-US" sz="2799">
                <a:solidFill>
                  <a:srgbClr val="000000"/>
                </a:solidFill>
                <a:latin typeface="Calibri (MS)"/>
                <a:ea typeface="Calibri (MS)"/>
                <a:cs typeface="Calibri (MS)"/>
                <a:sym typeface="Calibri (MS)"/>
              </a:rPr>
              <a:t>The game requires logical thinking and strategic planning.</a:t>
            </a:r>
          </a:p>
          <a:p>
            <a:pPr algn="l" marL="640100" indent="-213367" lvl="2">
              <a:lnSpc>
                <a:spcPts val="3359"/>
              </a:lnSpc>
              <a:buFont typeface="Arial"/>
              <a:buChar char="⚬"/>
            </a:pPr>
            <a:r>
              <a:rPr lang="en-US" sz="2799">
                <a:solidFill>
                  <a:srgbClr val="000000"/>
                </a:solidFill>
                <a:latin typeface="Calibri (MS)"/>
                <a:ea typeface="Calibri (MS)"/>
                <a:cs typeface="Calibri (MS)"/>
                <a:sym typeface="Calibri (MS)"/>
              </a:rPr>
              <a:t>It improves problem-solving and decision-making skills.</a:t>
            </a:r>
          </a:p>
          <a:p>
            <a:pPr algn="l" marL="640100" indent="-213367" lvl="2">
              <a:lnSpc>
                <a:spcPts val="3359"/>
              </a:lnSpc>
              <a:buFont typeface="Arial"/>
              <a:buChar char="⚬"/>
            </a:pPr>
            <a:r>
              <a:rPr lang="en-US" sz="2799">
                <a:solidFill>
                  <a:srgbClr val="000000"/>
                </a:solidFill>
                <a:latin typeface="Calibri (MS)"/>
                <a:ea typeface="Calibri (MS)"/>
                <a:cs typeface="Calibri (MS)"/>
                <a:sym typeface="Calibri (MS)"/>
              </a:rPr>
              <a:t>Players must manage grid space efficiently to continue the game.</a:t>
            </a:r>
          </a:p>
          <a:p>
            <a:pPr algn="l" marL="640100" indent="-213367" lvl="2">
              <a:lnSpc>
                <a:spcPts val="3359"/>
              </a:lnSpc>
              <a:buFont typeface="Arial"/>
              <a:buChar char="⚬"/>
            </a:pPr>
            <a:r>
              <a:rPr lang="en-US" sz="2799">
                <a:solidFill>
                  <a:srgbClr val="000000"/>
                </a:solidFill>
                <a:latin typeface="Calibri (MS)"/>
                <a:ea typeface="Calibri (MS)"/>
                <a:cs typeface="Calibri (MS)"/>
                <a:sym typeface="Calibri (MS)"/>
              </a:rPr>
              <a:t>The game has simple controls and an easy-to-use interface.</a:t>
            </a:r>
          </a:p>
          <a:p>
            <a:pPr algn="l" marL="640100" indent="-213367" lvl="2">
              <a:lnSpc>
                <a:spcPts val="3359"/>
              </a:lnSpc>
              <a:buFont typeface="Arial"/>
              <a:buChar char="⚬"/>
            </a:pPr>
            <a:r>
              <a:rPr lang="en-US" sz="2799">
                <a:solidFill>
                  <a:srgbClr val="000000"/>
                </a:solidFill>
                <a:latin typeface="Calibri (MS)"/>
                <a:ea typeface="Calibri (MS)"/>
                <a:cs typeface="Calibri (MS)"/>
                <a:sym typeface="Calibri (MS)"/>
              </a:rPr>
              <a:t>It provides both entertainment and educational benefits.</a:t>
            </a:r>
          </a:p>
          <a:p>
            <a:pPr algn="l" marL="640100" indent="-213367" lvl="2">
              <a:lnSpc>
                <a:spcPts val="3359"/>
              </a:lnSpc>
              <a:buFont typeface="Arial"/>
              <a:buChar char="⚬"/>
            </a:pPr>
            <a:r>
              <a:rPr lang="en-US" sz="2799">
                <a:solidFill>
                  <a:srgbClr val="000000"/>
                </a:solidFill>
                <a:latin typeface="Calibri (MS)"/>
                <a:ea typeface="Calibri (MS)"/>
                <a:cs typeface="Calibri (MS)"/>
                <a:sym typeface="Calibri (MS)"/>
              </a:rPr>
              <a:t>The project demonstrates game development and user interaction concepts.</a:t>
            </a:r>
          </a:p>
          <a:p>
            <a:pPr algn="l" marL="640100" indent="-213367" lvl="2">
              <a:lnSpc>
                <a:spcPts val="3359"/>
              </a:lnSpc>
              <a:buFont typeface="Arial"/>
              <a:buChar char="⚬"/>
            </a:pPr>
            <a:r>
              <a:rPr lang="en-US" sz="2799">
                <a:solidFill>
                  <a:srgbClr val="000000"/>
                </a:solidFill>
                <a:latin typeface="Calibri (MS)"/>
                <a:ea typeface="Calibri (MS)"/>
                <a:cs typeface="Calibri (MS)"/>
                <a:sym typeface="Calibri (MS)"/>
              </a:rPr>
              <a:t>Overall, the project enhances cognitive skills while offering an engaging gaming experience.</a:t>
            </a:r>
          </a:p>
        </p:txBody>
      </p:sp>
      <p:sp>
        <p:nvSpPr>
          <p:cNvPr name="TextBox 7" id="7"/>
          <p:cNvSpPr txBox="true"/>
          <p:nvPr/>
        </p:nvSpPr>
        <p:spPr>
          <a:xfrm rot="0">
            <a:off x="-3286535" y="1339853"/>
            <a:ext cx="21053784" cy="940432"/>
          </a:xfrm>
          <a:prstGeom prst="rect">
            <a:avLst/>
          </a:prstGeom>
        </p:spPr>
        <p:txBody>
          <a:bodyPr anchor="t" rtlCol="false" tIns="0" lIns="0" bIns="0" rIns="0">
            <a:spAutoFit/>
          </a:bodyPr>
          <a:lstStyle/>
          <a:p>
            <a:pPr algn="ctr">
              <a:lnSpc>
                <a:spcPts val="6439"/>
              </a:lnSpc>
            </a:pPr>
            <a:r>
              <a:rPr lang="en-US" sz="4599">
                <a:solidFill>
                  <a:srgbClr val="000000"/>
                </a:solidFill>
                <a:latin typeface="Times New Roman"/>
                <a:ea typeface="Times New Roman"/>
                <a:cs typeface="Times New Roman"/>
                <a:sym typeface="Times New Roman"/>
              </a:rPr>
              <a:t>PROJECT SUMMARIZATION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2006" y="296694"/>
            <a:ext cx="1600200" cy="1585912"/>
            <a:chOff x="0" y="0"/>
            <a:chExt cx="2133600" cy="2114550"/>
          </a:xfrm>
        </p:grpSpPr>
        <p:sp>
          <p:nvSpPr>
            <p:cNvPr name="Freeform 3" id="3"/>
            <p:cNvSpPr/>
            <p:nvPr/>
          </p:nvSpPr>
          <p:spPr>
            <a:xfrm flipH="false" flipV="false" rot="0">
              <a:off x="0" y="0"/>
              <a:ext cx="2133600" cy="2114550"/>
            </a:xfrm>
            <a:custGeom>
              <a:avLst/>
              <a:gdLst/>
              <a:ahLst/>
              <a:cxnLst/>
              <a:rect r="r" b="b" t="t" l="l"/>
              <a:pathLst>
                <a:path h="2114550" w="2133600">
                  <a:moveTo>
                    <a:pt x="0" y="0"/>
                  </a:moveTo>
                  <a:lnTo>
                    <a:pt x="2133600" y="0"/>
                  </a:lnTo>
                  <a:lnTo>
                    <a:pt x="2133600" y="2114550"/>
                  </a:lnTo>
                  <a:lnTo>
                    <a:pt x="0" y="2114550"/>
                  </a:lnTo>
                  <a:lnTo>
                    <a:pt x="0" y="0"/>
                  </a:lnTo>
                  <a:close/>
                </a:path>
              </a:pathLst>
            </a:custGeom>
            <a:blipFill>
              <a:blip r:embed="rId3"/>
              <a:stretch>
                <a:fillRect l="-39" t="0" r="-39" b="0"/>
              </a:stretch>
            </a:blipFill>
          </p:spPr>
        </p:sp>
      </p:grpSp>
      <p:grpSp>
        <p:nvGrpSpPr>
          <p:cNvPr name="Group 4" id="4"/>
          <p:cNvGrpSpPr/>
          <p:nvPr/>
        </p:nvGrpSpPr>
        <p:grpSpPr>
          <a:xfrm rot="0">
            <a:off x="15691885" y="464734"/>
            <a:ext cx="2265902" cy="1638205"/>
            <a:chOff x="0" y="0"/>
            <a:chExt cx="3021203" cy="2184273"/>
          </a:xfrm>
        </p:grpSpPr>
        <p:sp>
          <p:nvSpPr>
            <p:cNvPr name="Freeform 5" id="5" descr="A blue and white logo  Description automatically generated"/>
            <p:cNvSpPr/>
            <p:nvPr/>
          </p:nvSpPr>
          <p:spPr>
            <a:xfrm flipH="false" flipV="false" rot="0">
              <a:off x="0" y="0"/>
              <a:ext cx="3021203" cy="2184273"/>
            </a:xfrm>
            <a:custGeom>
              <a:avLst/>
              <a:gdLst/>
              <a:ahLst/>
              <a:cxnLst/>
              <a:rect r="r" b="b" t="t" l="l"/>
              <a:pathLst>
                <a:path h="2184273" w="3021203">
                  <a:moveTo>
                    <a:pt x="0" y="0"/>
                  </a:moveTo>
                  <a:lnTo>
                    <a:pt x="3021203" y="0"/>
                  </a:lnTo>
                  <a:lnTo>
                    <a:pt x="3021203" y="2184273"/>
                  </a:lnTo>
                  <a:lnTo>
                    <a:pt x="0" y="2184273"/>
                  </a:lnTo>
                  <a:lnTo>
                    <a:pt x="0" y="0"/>
                  </a:lnTo>
                  <a:close/>
                </a:path>
              </a:pathLst>
            </a:custGeom>
            <a:blipFill>
              <a:blip r:embed="rId4"/>
              <a:stretch>
                <a:fillRect l="0" t="-13" r="0" b="-13"/>
              </a:stretch>
            </a:blipFill>
          </p:spPr>
        </p:sp>
      </p:grpSp>
      <p:sp>
        <p:nvSpPr>
          <p:cNvPr name="TextBox 6" id="6"/>
          <p:cNvSpPr txBox="true"/>
          <p:nvPr/>
        </p:nvSpPr>
        <p:spPr>
          <a:xfrm rot="0">
            <a:off x="-665131" y="1064771"/>
            <a:ext cx="13337877" cy="774065"/>
          </a:xfrm>
          <a:prstGeom prst="rect">
            <a:avLst/>
          </a:prstGeom>
        </p:spPr>
        <p:txBody>
          <a:bodyPr anchor="t" rtlCol="false" tIns="0" lIns="0" bIns="0" rIns="0">
            <a:spAutoFit/>
          </a:bodyPr>
          <a:lstStyle/>
          <a:p>
            <a:pPr algn="ctr">
              <a:lnSpc>
                <a:spcPts val="6160"/>
              </a:lnSpc>
            </a:pPr>
            <a:r>
              <a:rPr lang="en-US" sz="4400">
                <a:solidFill>
                  <a:srgbClr val="000000"/>
                </a:solidFill>
                <a:latin typeface="Times New Roman"/>
                <a:ea typeface="Times New Roman"/>
                <a:cs typeface="Times New Roman"/>
                <a:sym typeface="Times New Roman"/>
              </a:rPr>
              <a:t>PYTHON USED</a:t>
            </a:r>
          </a:p>
        </p:txBody>
      </p:sp>
      <p:sp>
        <p:nvSpPr>
          <p:cNvPr name="TextBox 7" id="7"/>
          <p:cNvSpPr txBox="true"/>
          <p:nvPr/>
        </p:nvSpPr>
        <p:spPr>
          <a:xfrm rot="0">
            <a:off x="2332206" y="2460708"/>
            <a:ext cx="10234603" cy="3519772"/>
          </a:xfrm>
          <a:prstGeom prst="rect">
            <a:avLst/>
          </a:prstGeom>
        </p:spPr>
        <p:txBody>
          <a:bodyPr anchor="t" rtlCol="false" tIns="0" lIns="0" bIns="0" rIns="0">
            <a:spAutoFit/>
          </a:bodyPr>
          <a:lstStyle/>
          <a:p>
            <a:pPr algn="l" marL="640117" indent="-213372" lvl="2">
              <a:lnSpc>
                <a:spcPts val="3920"/>
              </a:lnSpc>
              <a:buFont typeface="Arial"/>
              <a:buChar char="⚬"/>
            </a:pPr>
            <a:r>
              <a:rPr lang="en-US" sz="2799">
                <a:solidFill>
                  <a:srgbClr val="000000"/>
                </a:solidFill>
                <a:latin typeface="Calibri (MS)"/>
                <a:ea typeface="Calibri (MS)"/>
                <a:cs typeface="Calibri (MS)"/>
                <a:sym typeface="Calibri (MS)"/>
              </a:rPr>
              <a:t>Variables – Store tile values and scores.</a:t>
            </a:r>
          </a:p>
          <a:p>
            <a:pPr algn="l" marL="640117" indent="-213372" lvl="2">
              <a:lnSpc>
                <a:spcPts val="3920"/>
              </a:lnSpc>
              <a:buFont typeface="Arial"/>
              <a:buChar char="⚬"/>
            </a:pPr>
            <a:r>
              <a:rPr lang="en-US" sz="2799">
                <a:solidFill>
                  <a:srgbClr val="000000"/>
                </a:solidFill>
                <a:latin typeface="Calibri (MS)"/>
                <a:ea typeface="Calibri (MS)"/>
                <a:cs typeface="Calibri (MS)"/>
                <a:sym typeface="Calibri (MS)"/>
              </a:rPr>
              <a:t>Lists (2D Lists) – Represent the 4×4 game board.</a:t>
            </a:r>
          </a:p>
          <a:p>
            <a:pPr algn="l" marL="640117" indent="-213372" lvl="2">
              <a:lnSpc>
                <a:spcPts val="3920"/>
              </a:lnSpc>
              <a:buFont typeface="Arial"/>
              <a:buChar char="⚬"/>
            </a:pPr>
            <a:r>
              <a:rPr lang="en-US" sz="2799">
                <a:solidFill>
                  <a:srgbClr val="000000"/>
                </a:solidFill>
                <a:latin typeface="Calibri (MS)"/>
                <a:ea typeface="Calibri (MS)"/>
                <a:cs typeface="Calibri (MS)"/>
                <a:sym typeface="Calibri (MS)"/>
              </a:rPr>
              <a:t>Functions – Handle movements, merging, and game logic.</a:t>
            </a:r>
          </a:p>
          <a:p>
            <a:pPr algn="l" marL="640117" indent="-213372" lvl="2">
              <a:lnSpc>
                <a:spcPts val="3920"/>
              </a:lnSpc>
              <a:buFont typeface="Arial"/>
              <a:buChar char="⚬"/>
            </a:pPr>
            <a:r>
              <a:rPr lang="en-US" sz="2799">
                <a:solidFill>
                  <a:srgbClr val="000000"/>
                </a:solidFill>
                <a:latin typeface="Calibri (MS)"/>
                <a:ea typeface="Calibri (MS)"/>
                <a:cs typeface="Calibri (MS)"/>
                <a:sym typeface="Calibri (MS)"/>
              </a:rPr>
              <a:t>Conditional Statements (if, else) – Check game rules and conditions.</a:t>
            </a:r>
          </a:p>
          <a:p>
            <a:pPr algn="l" marL="640117" indent="-213372" lvl="2">
              <a:lnSpc>
                <a:spcPts val="3920"/>
              </a:lnSpc>
              <a:buFont typeface="Arial"/>
              <a:buChar char="⚬"/>
            </a:pPr>
            <a:r>
              <a:rPr lang="en-US" sz="2799">
                <a:solidFill>
                  <a:srgbClr val="000000"/>
                </a:solidFill>
                <a:latin typeface="Calibri (MS)"/>
                <a:ea typeface="Calibri (MS)"/>
                <a:cs typeface="Calibri (MS)"/>
                <a:sym typeface="Calibri (MS)"/>
              </a:rPr>
              <a:t>Loops (for, while) – Update the board and continue gameplay.</a:t>
            </a:r>
          </a:p>
          <a:p>
            <a:pPr algn="l" marL="640117" indent="-213372" lvl="2">
              <a:lnSpc>
                <a:spcPts val="3920"/>
              </a:lnSpc>
              <a:buFont typeface="Arial"/>
              <a:buChar char="⚬"/>
            </a:pPr>
            <a:r>
              <a:rPr lang="en-US" sz="2799">
                <a:solidFill>
                  <a:srgbClr val="000000"/>
                </a:solidFill>
                <a:latin typeface="Calibri (MS)"/>
                <a:ea typeface="Calibri (MS)"/>
                <a:cs typeface="Calibri (MS)"/>
                <a:sym typeface="Calibri (MS)"/>
              </a:rPr>
              <a:t>Random Module – Generate random tiles (2 or 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604862" y="2159032"/>
            <a:ext cx="5418677" cy="8127968"/>
            <a:chOff x="0" y="0"/>
            <a:chExt cx="7224903" cy="10837291"/>
          </a:xfrm>
        </p:grpSpPr>
        <p:sp>
          <p:nvSpPr>
            <p:cNvPr name="Freeform 3" id="3"/>
            <p:cNvSpPr/>
            <p:nvPr/>
          </p:nvSpPr>
          <p:spPr>
            <a:xfrm flipH="false" flipV="false" rot="0">
              <a:off x="0" y="0"/>
              <a:ext cx="7224903" cy="10837291"/>
            </a:xfrm>
            <a:custGeom>
              <a:avLst/>
              <a:gdLst/>
              <a:ahLst/>
              <a:cxnLst/>
              <a:rect r="r" b="b" t="t" l="l"/>
              <a:pathLst>
                <a:path h="10837291" w="7224903">
                  <a:moveTo>
                    <a:pt x="0" y="0"/>
                  </a:moveTo>
                  <a:lnTo>
                    <a:pt x="7224903" y="0"/>
                  </a:lnTo>
                  <a:lnTo>
                    <a:pt x="7224903" y="10837291"/>
                  </a:lnTo>
                  <a:lnTo>
                    <a:pt x="0" y="10837291"/>
                  </a:lnTo>
                  <a:lnTo>
                    <a:pt x="0" y="0"/>
                  </a:lnTo>
                  <a:close/>
                </a:path>
              </a:pathLst>
            </a:custGeom>
            <a:blipFill>
              <a:blip r:embed="rId2"/>
              <a:stretch>
                <a:fillRect l="0" t="-23" r="0" b="-23"/>
              </a:stretch>
            </a:blipFill>
          </p:spPr>
        </p:sp>
      </p:grpSp>
      <p:grpSp>
        <p:nvGrpSpPr>
          <p:cNvPr name="Group 4" id="4"/>
          <p:cNvGrpSpPr/>
          <p:nvPr/>
        </p:nvGrpSpPr>
        <p:grpSpPr>
          <a:xfrm rot="0">
            <a:off x="566185" y="550602"/>
            <a:ext cx="1945481" cy="1920335"/>
            <a:chOff x="0" y="0"/>
            <a:chExt cx="2593975" cy="2560447"/>
          </a:xfrm>
        </p:grpSpPr>
        <p:sp>
          <p:nvSpPr>
            <p:cNvPr name="Freeform 5" id="5"/>
            <p:cNvSpPr/>
            <p:nvPr/>
          </p:nvSpPr>
          <p:spPr>
            <a:xfrm flipH="false" flipV="false" rot="0">
              <a:off x="0" y="0"/>
              <a:ext cx="2593975" cy="2560447"/>
            </a:xfrm>
            <a:custGeom>
              <a:avLst/>
              <a:gdLst/>
              <a:ahLst/>
              <a:cxnLst/>
              <a:rect r="r" b="b" t="t" l="l"/>
              <a:pathLst>
                <a:path h="2560447" w="2593975">
                  <a:moveTo>
                    <a:pt x="0" y="0"/>
                  </a:moveTo>
                  <a:lnTo>
                    <a:pt x="2593975" y="0"/>
                  </a:lnTo>
                  <a:lnTo>
                    <a:pt x="2593975" y="2560447"/>
                  </a:lnTo>
                  <a:lnTo>
                    <a:pt x="0" y="2560447"/>
                  </a:lnTo>
                  <a:lnTo>
                    <a:pt x="0" y="0"/>
                  </a:lnTo>
                  <a:close/>
                </a:path>
              </a:pathLst>
            </a:custGeom>
            <a:blipFill>
              <a:blip r:embed="rId3"/>
              <a:stretch>
                <a:fillRect l="0" t="-56" r="0" b="-56"/>
              </a:stretch>
            </a:blipFill>
          </p:spPr>
        </p:sp>
      </p:grpSp>
      <p:grpSp>
        <p:nvGrpSpPr>
          <p:cNvPr name="Group 6" id="6"/>
          <p:cNvGrpSpPr/>
          <p:nvPr/>
        </p:nvGrpSpPr>
        <p:grpSpPr>
          <a:xfrm rot="0">
            <a:off x="15270480" y="498539"/>
            <a:ext cx="2716911" cy="1964246"/>
            <a:chOff x="0" y="0"/>
            <a:chExt cx="3622548" cy="2618994"/>
          </a:xfrm>
        </p:grpSpPr>
        <p:sp>
          <p:nvSpPr>
            <p:cNvPr name="Freeform 7" id="7"/>
            <p:cNvSpPr/>
            <p:nvPr/>
          </p:nvSpPr>
          <p:spPr>
            <a:xfrm flipH="false" flipV="false" rot="0">
              <a:off x="0" y="0"/>
              <a:ext cx="3622548" cy="2618994"/>
            </a:xfrm>
            <a:custGeom>
              <a:avLst/>
              <a:gdLst/>
              <a:ahLst/>
              <a:cxnLst/>
              <a:rect r="r" b="b" t="t" l="l"/>
              <a:pathLst>
                <a:path h="2618994" w="3622548">
                  <a:moveTo>
                    <a:pt x="0" y="0"/>
                  </a:moveTo>
                  <a:lnTo>
                    <a:pt x="3622548" y="0"/>
                  </a:lnTo>
                  <a:lnTo>
                    <a:pt x="3622548" y="2618994"/>
                  </a:lnTo>
                  <a:lnTo>
                    <a:pt x="0" y="2618994"/>
                  </a:lnTo>
                  <a:lnTo>
                    <a:pt x="0" y="0"/>
                  </a:lnTo>
                  <a:close/>
                </a:path>
              </a:pathLst>
            </a:custGeom>
            <a:blipFill>
              <a:blip r:embed="rId4"/>
              <a:stretch>
                <a:fillRect l="0" t="-7" r="0" b="-7"/>
              </a:stretch>
            </a:blipFill>
          </p:spPr>
        </p:sp>
      </p:grpSp>
      <p:sp>
        <p:nvSpPr>
          <p:cNvPr name="TextBox 8" id="8"/>
          <p:cNvSpPr txBox="true"/>
          <p:nvPr/>
        </p:nvSpPr>
        <p:spPr>
          <a:xfrm rot="0">
            <a:off x="5463478" y="872519"/>
            <a:ext cx="6855190" cy="1286513"/>
          </a:xfrm>
          <a:prstGeom prst="rect">
            <a:avLst/>
          </a:prstGeom>
        </p:spPr>
        <p:txBody>
          <a:bodyPr anchor="t" rtlCol="false" tIns="0" lIns="0" bIns="0" rIns="0">
            <a:spAutoFit/>
          </a:bodyPr>
          <a:lstStyle/>
          <a:p>
            <a:pPr algn="ctr">
              <a:lnSpc>
                <a:spcPts val="7839"/>
              </a:lnSpc>
            </a:pPr>
            <a:r>
              <a:rPr lang="en-US" sz="5599">
                <a:solidFill>
                  <a:srgbClr val="000000"/>
                </a:solidFill>
                <a:latin typeface="Calibri (MS)"/>
                <a:ea typeface="Calibri (MS)"/>
                <a:cs typeface="Calibri (MS)"/>
                <a:sym typeface="Calibri (MS)"/>
              </a:rPr>
              <a:t>FLOW CHAT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4464" y="30904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2"/>
              <a:stretch>
                <a:fillRect l="0" t="-57" r="0" b="-57"/>
              </a:stretch>
            </a:blipFill>
          </p:spPr>
        </p:sp>
      </p:grpSp>
      <p:sp>
        <p:nvSpPr>
          <p:cNvPr name="TextBox 4" id="4"/>
          <p:cNvSpPr txBox="true"/>
          <p:nvPr/>
        </p:nvSpPr>
        <p:spPr>
          <a:xfrm rot="0">
            <a:off x="2832926" y="2926204"/>
            <a:ext cx="124777" cy="551183"/>
          </a:xfrm>
          <a:prstGeom prst="rect">
            <a:avLst/>
          </a:prstGeom>
        </p:spPr>
        <p:txBody>
          <a:bodyPr anchor="t" rtlCol="false" tIns="0" lIns="0" bIns="0" rIns="0">
            <a:spAutoFit/>
          </a:bodyPr>
          <a:lstStyle/>
          <a:p>
            <a:pPr algn="l">
              <a:lnSpc>
                <a:spcPts val="3240"/>
              </a:lnSpc>
            </a:pPr>
            <a:r>
              <a:rPr lang="en-US" sz="2700" spc="-75">
                <a:solidFill>
                  <a:srgbClr val="000000"/>
                </a:solidFill>
                <a:latin typeface="Calibri (MS)"/>
                <a:ea typeface="Calibri (MS)"/>
                <a:cs typeface="Calibri (MS)"/>
                <a:sym typeface="Calibri (MS)"/>
              </a:rPr>
              <a:t>.</a:t>
            </a:r>
          </a:p>
        </p:txBody>
      </p:sp>
      <p:grpSp>
        <p:nvGrpSpPr>
          <p:cNvPr name="Group 5" id="5"/>
          <p:cNvGrpSpPr/>
          <p:nvPr/>
        </p:nvGrpSpPr>
        <p:grpSpPr>
          <a:xfrm rot="0">
            <a:off x="15792288" y="464706"/>
            <a:ext cx="2108930" cy="1613154"/>
            <a:chOff x="0" y="0"/>
            <a:chExt cx="2811907" cy="2150872"/>
          </a:xfrm>
        </p:grpSpPr>
        <p:sp>
          <p:nvSpPr>
            <p:cNvPr name="Freeform 6" id="6"/>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7" id="7"/>
          <p:cNvSpPr txBox="true"/>
          <p:nvPr/>
        </p:nvSpPr>
        <p:spPr>
          <a:xfrm rot="0">
            <a:off x="-2236077" y="1128408"/>
            <a:ext cx="15547324" cy="1134113"/>
          </a:xfrm>
          <a:prstGeom prst="rect">
            <a:avLst/>
          </a:prstGeom>
        </p:spPr>
        <p:txBody>
          <a:bodyPr anchor="t" rtlCol="false" tIns="0" lIns="0" bIns="0" rIns="0">
            <a:spAutoFit/>
          </a:bodyPr>
          <a:lstStyle/>
          <a:p>
            <a:pPr algn="ctr">
              <a:lnSpc>
                <a:spcPts val="7839"/>
              </a:lnSpc>
            </a:pPr>
            <a:r>
              <a:rPr lang="en-US" sz="5599">
                <a:solidFill>
                  <a:srgbClr val="000000"/>
                </a:solidFill>
                <a:latin typeface="Times New Roman"/>
                <a:ea typeface="Times New Roman"/>
                <a:cs typeface="Times New Roman"/>
                <a:sym typeface="Times New Roman"/>
              </a:rPr>
              <a:t>System Module </a:t>
            </a:r>
          </a:p>
        </p:txBody>
      </p:sp>
      <p:sp>
        <p:nvSpPr>
          <p:cNvPr name="TextBox 8" id="8"/>
          <p:cNvSpPr txBox="true"/>
          <p:nvPr/>
        </p:nvSpPr>
        <p:spPr>
          <a:xfrm rot="0">
            <a:off x="2325995" y="2475926"/>
            <a:ext cx="9425616" cy="3017396"/>
          </a:xfrm>
          <a:prstGeom prst="rect">
            <a:avLst/>
          </a:prstGeom>
        </p:spPr>
        <p:txBody>
          <a:bodyPr anchor="t" rtlCol="false" tIns="0" lIns="0" bIns="0" rIns="0">
            <a:spAutoFit/>
          </a:bodyPr>
          <a:lstStyle/>
          <a:p>
            <a:pPr algn="l" marL="918369" indent="-306123" lvl="2">
              <a:lnSpc>
                <a:spcPts val="5623"/>
              </a:lnSpc>
              <a:buFont typeface="Arial"/>
              <a:buChar char="⚬"/>
            </a:pPr>
            <a:r>
              <a:rPr lang="en-US" sz="4017">
                <a:solidFill>
                  <a:srgbClr val="000000"/>
                </a:solidFill>
                <a:latin typeface="Calibri (MS)"/>
                <a:ea typeface="Calibri (MS)"/>
                <a:cs typeface="Calibri (MS)"/>
                <a:sym typeface="Calibri (MS)"/>
              </a:rPr>
              <a:t>Game Initialization</a:t>
            </a:r>
          </a:p>
          <a:p>
            <a:pPr algn="l" marL="918369" indent="-306123" lvl="2">
              <a:lnSpc>
                <a:spcPts val="5623"/>
              </a:lnSpc>
              <a:buFont typeface="Arial"/>
              <a:buChar char="⚬"/>
            </a:pPr>
            <a:r>
              <a:rPr lang="en-US" sz="4017">
                <a:solidFill>
                  <a:srgbClr val="000000"/>
                </a:solidFill>
                <a:latin typeface="Calibri (MS)"/>
                <a:ea typeface="Calibri (MS)"/>
                <a:cs typeface="Calibri (MS)"/>
                <a:sym typeface="Calibri (MS)"/>
              </a:rPr>
              <a:t>User Input and Movement Control</a:t>
            </a:r>
          </a:p>
          <a:p>
            <a:pPr algn="l" marL="918369" indent="-306123" lvl="2">
              <a:lnSpc>
                <a:spcPts val="5623"/>
              </a:lnSpc>
              <a:buFont typeface="Arial"/>
              <a:buChar char="⚬"/>
            </a:pPr>
            <a:r>
              <a:rPr lang="en-US" sz="4017">
                <a:solidFill>
                  <a:srgbClr val="000000"/>
                </a:solidFill>
                <a:latin typeface="Calibri (MS)"/>
                <a:ea typeface="Calibri (MS)"/>
                <a:cs typeface="Calibri (MS)"/>
                <a:sym typeface="Calibri (MS)"/>
              </a:rPr>
              <a:t>Tile Merging and Board Update</a:t>
            </a:r>
          </a:p>
          <a:p>
            <a:pPr algn="l" marL="918369" indent="-306123" lvl="2">
              <a:lnSpc>
                <a:spcPts val="5623"/>
              </a:lnSpc>
              <a:buFont typeface="Arial"/>
              <a:buChar char="⚬"/>
            </a:pPr>
            <a:r>
              <a:rPr lang="en-US" sz="4017">
                <a:solidFill>
                  <a:srgbClr val="000000"/>
                </a:solidFill>
                <a:latin typeface="Calibri (MS)"/>
                <a:ea typeface="Calibri (MS)"/>
                <a:cs typeface="Calibri (MS)"/>
                <a:sym typeface="Calibri (MS)"/>
              </a:rPr>
              <a:t>Win and Game Over Detection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55288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2"/>
              <a:stretch>
                <a:fillRect l="0" t="-57" r="0"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6" id="6"/>
          <p:cNvSpPr txBox="true"/>
          <p:nvPr/>
        </p:nvSpPr>
        <p:spPr>
          <a:xfrm rot="0">
            <a:off x="14240" y="813683"/>
            <a:ext cx="15753874" cy="1537335"/>
          </a:xfrm>
          <a:prstGeom prst="rect">
            <a:avLst/>
          </a:prstGeom>
        </p:spPr>
        <p:txBody>
          <a:bodyPr anchor="t" rtlCol="false" tIns="0" lIns="0" bIns="0" rIns="0">
            <a:spAutoFit/>
          </a:bodyPr>
          <a:lstStyle/>
          <a:p>
            <a:pPr algn="ctr">
              <a:lnSpc>
                <a:spcPts val="9240"/>
              </a:lnSpc>
            </a:pPr>
            <a:r>
              <a:rPr lang="en-US" sz="6600">
                <a:solidFill>
                  <a:srgbClr val="000000"/>
                </a:solidFill>
                <a:latin typeface="Calibri (MS)"/>
                <a:ea typeface="Calibri (MS)"/>
                <a:cs typeface="Calibri (MS)"/>
                <a:sym typeface="Calibri (MS)"/>
              </a:rPr>
              <a:t>Module 1:Game Initialization</a:t>
            </a:r>
          </a:p>
        </p:txBody>
      </p:sp>
      <p:sp>
        <p:nvSpPr>
          <p:cNvPr name="TextBox 7" id="7"/>
          <p:cNvSpPr txBox="true"/>
          <p:nvPr/>
        </p:nvSpPr>
        <p:spPr>
          <a:xfrm rot="0">
            <a:off x="2619800" y="2227193"/>
            <a:ext cx="12839113" cy="6491681"/>
          </a:xfrm>
          <a:prstGeom prst="rect">
            <a:avLst/>
          </a:prstGeom>
        </p:spPr>
        <p:txBody>
          <a:bodyPr anchor="t" rtlCol="false" tIns="0" lIns="0" bIns="0" rIns="0">
            <a:spAutoFit/>
          </a:bodyPr>
          <a:lstStyle/>
          <a:p>
            <a:pPr algn="l">
              <a:lnSpc>
                <a:spcPts val="3919"/>
              </a:lnSpc>
            </a:pPr>
            <a:r>
              <a:rPr lang="en-US" sz="2799" b="true">
                <a:solidFill>
                  <a:srgbClr val="000000"/>
                </a:solidFill>
                <a:latin typeface="Calibri (MS) Bold"/>
                <a:ea typeface="Calibri (MS) Bold"/>
                <a:cs typeface="Calibri (MS) Bold"/>
                <a:sym typeface="Calibri (MS) Bold"/>
              </a:rPr>
              <a:t>Purpose:</a:t>
            </a:r>
          </a:p>
          <a:p>
            <a:pPr algn="l">
              <a:lnSpc>
                <a:spcPts val="3919"/>
              </a:lnSpc>
            </a:pPr>
            <a:r>
              <a:rPr lang="en-US" sz="2799">
                <a:solidFill>
                  <a:srgbClr val="000000"/>
                </a:solidFill>
                <a:latin typeface="Calibri (MS)"/>
                <a:ea typeface="Calibri (MS)"/>
                <a:cs typeface="Calibri (MS)"/>
                <a:sym typeface="Calibri (MS)"/>
              </a:rPr>
              <a:t> Manages the initial setup of the 2048 game and prepares the game board for play.</a:t>
            </a:r>
          </a:p>
          <a:p>
            <a:pPr algn="l">
              <a:lnSpc>
                <a:spcPts val="3919"/>
              </a:lnSpc>
            </a:pPr>
            <a:r>
              <a:rPr lang="en-US" sz="2799" b="true">
                <a:solidFill>
                  <a:srgbClr val="000000"/>
                </a:solidFill>
                <a:latin typeface="Calibri (MS) Bold"/>
                <a:ea typeface="Calibri (MS) Bold"/>
                <a:cs typeface="Calibri (MS) Bold"/>
                <a:sym typeface="Calibri (MS) Bold"/>
              </a:rPr>
              <a:t>Functions:</a:t>
            </a:r>
          </a:p>
          <a:p>
            <a:pPr algn="l" marL="640105" indent="-213368" lvl="2">
              <a:lnSpc>
                <a:spcPts val="3919"/>
              </a:lnSpc>
              <a:buFont typeface="Arial"/>
              <a:buChar char="⚬"/>
            </a:pPr>
            <a:r>
              <a:rPr lang="en-US" sz="2799">
                <a:solidFill>
                  <a:srgbClr val="000000"/>
                </a:solidFill>
                <a:latin typeface="Calibri (MS)"/>
                <a:ea typeface="Calibri (MS)"/>
                <a:cs typeface="Calibri (MS)"/>
                <a:sym typeface="Calibri (MS)"/>
              </a:rPr>
              <a:t>Create a 4×4 game board</a:t>
            </a:r>
          </a:p>
          <a:p>
            <a:pPr algn="l" marL="640105" indent="-213368" lvl="2">
              <a:lnSpc>
                <a:spcPts val="3919"/>
              </a:lnSpc>
              <a:buFont typeface="Arial"/>
              <a:buChar char="⚬"/>
            </a:pPr>
            <a:r>
              <a:rPr lang="en-US" sz="2799">
                <a:solidFill>
                  <a:srgbClr val="000000"/>
                </a:solidFill>
                <a:latin typeface="Calibri (MS)"/>
                <a:ea typeface="Calibri (MS)"/>
                <a:cs typeface="Calibri (MS)"/>
                <a:sym typeface="Calibri (MS)"/>
              </a:rPr>
              <a:t>Initialize the score to zero</a:t>
            </a:r>
          </a:p>
          <a:p>
            <a:pPr algn="l" marL="640105" indent="-213368" lvl="2">
              <a:lnSpc>
                <a:spcPts val="3919"/>
              </a:lnSpc>
              <a:buFont typeface="Arial"/>
              <a:buChar char="⚬"/>
            </a:pPr>
            <a:r>
              <a:rPr lang="en-US" sz="2799">
                <a:solidFill>
                  <a:srgbClr val="000000"/>
                </a:solidFill>
                <a:latin typeface="Calibri (MS)"/>
                <a:ea typeface="Calibri (MS)"/>
                <a:cs typeface="Calibri (MS)"/>
                <a:sym typeface="Calibri (MS)"/>
              </a:rPr>
              <a:t>Generate two random tiles (2 or 4)</a:t>
            </a:r>
          </a:p>
          <a:p>
            <a:pPr algn="l" marL="640105" indent="-213368" lvl="2">
              <a:lnSpc>
                <a:spcPts val="3919"/>
              </a:lnSpc>
              <a:buFont typeface="Arial"/>
              <a:buChar char="⚬"/>
            </a:pPr>
            <a:r>
              <a:rPr lang="en-US" sz="2799">
                <a:solidFill>
                  <a:srgbClr val="000000"/>
                </a:solidFill>
                <a:latin typeface="Calibri (MS)"/>
                <a:ea typeface="Calibri (MS)"/>
                <a:cs typeface="Calibri (MS)"/>
                <a:sym typeface="Calibri (MS)"/>
              </a:rPr>
              <a:t>Display the initial game board</a:t>
            </a:r>
          </a:p>
          <a:p>
            <a:pPr algn="l" marL="640105" indent="-213368" lvl="2">
              <a:lnSpc>
                <a:spcPts val="3919"/>
              </a:lnSpc>
              <a:buFont typeface="Arial"/>
              <a:buChar char="⚬"/>
            </a:pPr>
            <a:r>
              <a:rPr lang="en-US" sz="2799">
                <a:solidFill>
                  <a:srgbClr val="000000"/>
                </a:solidFill>
                <a:latin typeface="Calibri (MS)"/>
                <a:ea typeface="Calibri (MS)"/>
                <a:cs typeface="Calibri (MS)"/>
                <a:sym typeface="Calibri (MS)"/>
              </a:rPr>
              <a:t>Set game status and variables</a:t>
            </a:r>
          </a:p>
          <a:p>
            <a:pPr algn="l">
              <a:lnSpc>
                <a:spcPts val="3919"/>
              </a:lnSpc>
            </a:pPr>
            <a:r>
              <a:rPr lang="en-US" b="true" sz="2799">
                <a:solidFill>
                  <a:srgbClr val="000000"/>
                </a:solidFill>
                <a:latin typeface="Calibri (MS) Bold"/>
                <a:ea typeface="Calibri (MS) Bold"/>
                <a:cs typeface="Calibri (MS) Bold"/>
                <a:sym typeface="Calibri (MS) Bold"/>
              </a:rPr>
              <a:t>Description:</a:t>
            </a:r>
            <a:r>
              <a:rPr lang="en-US" sz="2799">
                <a:solidFill>
                  <a:srgbClr val="000000"/>
                </a:solidFill>
                <a:latin typeface="Calibri (MS)"/>
                <a:ea typeface="Calibri (MS)"/>
                <a:cs typeface="Calibri (MS)"/>
                <a:sym typeface="Calibri (MS)"/>
              </a:rPr>
              <a:t> </a:t>
            </a:r>
          </a:p>
          <a:p>
            <a:pPr algn="l" marL="640105" indent="-213368" lvl="2">
              <a:lnSpc>
                <a:spcPts val="3919"/>
              </a:lnSpc>
            </a:pPr>
            <a:r>
              <a:rPr lang="en-US" sz="2799">
                <a:solidFill>
                  <a:srgbClr val="000000"/>
                </a:solidFill>
                <a:latin typeface="Calibri (MS)"/>
                <a:ea typeface="Calibri (MS)"/>
                <a:cs typeface="Calibri (MS)"/>
                <a:sym typeface="Calibri (MS)"/>
              </a:rPr>
              <a:t>Game Initialization is the first module of the 2048 game. It creates an empty 4×4 grid and places two random numbered tiles on the board. The player's score is set to zero, and all necessary variables are initialized. After the board is displayed, the game becomes ready to accept user input and begin gameplay.</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0745" y="552888"/>
            <a:ext cx="1621774" cy="1600772"/>
            <a:chOff x="0" y="0"/>
            <a:chExt cx="2162366" cy="2134362"/>
          </a:xfrm>
        </p:grpSpPr>
        <p:sp>
          <p:nvSpPr>
            <p:cNvPr name="Freeform 3" id="3"/>
            <p:cNvSpPr/>
            <p:nvPr/>
          </p:nvSpPr>
          <p:spPr>
            <a:xfrm flipH="false" flipV="false" rot="0">
              <a:off x="0" y="0"/>
              <a:ext cx="2162302" cy="2134362"/>
            </a:xfrm>
            <a:custGeom>
              <a:avLst/>
              <a:gdLst/>
              <a:ahLst/>
              <a:cxnLst/>
              <a:rect r="r" b="b" t="t" l="l"/>
              <a:pathLst>
                <a:path h="2134362" w="2162302">
                  <a:moveTo>
                    <a:pt x="0" y="0"/>
                  </a:moveTo>
                  <a:lnTo>
                    <a:pt x="2162302" y="0"/>
                  </a:lnTo>
                  <a:lnTo>
                    <a:pt x="2162302" y="2134362"/>
                  </a:lnTo>
                  <a:lnTo>
                    <a:pt x="0" y="2134362"/>
                  </a:lnTo>
                  <a:lnTo>
                    <a:pt x="0" y="0"/>
                  </a:lnTo>
                  <a:close/>
                </a:path>
              </a:pathLst>
            </a:custGeom>
            <a:blipFill>
              <a:blip r:embed="rId2"/>
              <a:stretch>
                <a:fillRect l="0" t="-57" r="-2"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grpSp>
        <p:nvGrpSpPr>
          <p:cNvPr name="Group 6" id="6"/>
          <p:cNvGrpSpPr/>
          <p:nvPr/>
        </p:nvGrpSpPr>
        <p:grpSpPr>
          <a:xfrm rot="0">
            <a:off x="3185398" y="3115218"/>
            <a:ext cx="10869216" cy="6143082"/>
            <a:chOff x="0" y="0"/>
            <a:chExt cx="14492288" cy="8190776"/>
          </a:xfrm>
        </p:grpSpPr>
        <p:sp>
          <p:nvSpPr>
            <p:cNvPr name="Freeform 7" id="7"/>
            <p:cNvSpPr/>
            <p:nvPr/>
          </p:nvSpPr>
          <p:spPr>
            <a:xfrm flipH="false" flipV="false" rot="0">
              <a:off x="0" y="0"/>
              <a:ext cx="14492224" cy="8190738"/>
            </a:xfrm>
            <a:custGeom>
              <a:avLst/>
              <a:gdLst/>
              <a:ahLst/>
              <a:cxnLst/>
              <a:rect r="r" b="b" t="t" l="l"/>
              <a:pathLst>
                <a:path h="8190738" w="14492224">
                  <a:moveTo>
                    <a:pt x="0" y="0"/>
                  </a:moveTo>
                  <a:lnTo>
                    <a:pt x="14492224" y="0"/>
                  </a:lnTo>
                  <a:lnTo>
                    <a:pt x="14492224" y="8190738"/>
                  </a:lnTo>
                  <a:lnTo>
                    <a:pt x="0" y="8190738"/>
                  </a:lnTo>
                  <a:lnTo>
                    <a:pt x="0" y="0"/>
                  </a:lnTo>
                  <a:close/>
                </a:path>
              </a:pathLst>
            </a:custGeom>
            <a:blipFill>
              <a:blip r:embed="rId4"/>
              <a:stretch>
                <a:fillRect l="0" t="0" r="0" b="0"/>
              </a:stretch>
            </a:blipFill>
          </p:spPr>
        </p:sp>
      </p:grpSp>
      <p:sp>
        <p:nvSpPr>
          <p:cNvPr name="TextBox 8" id="8"/>
          <p:cNvSpPr txBox="true"/>
          <p:nvPr/>
        </p:nvSpPr>
        <p:spPr>
          <a:xfrm rot="0">
            <a:off x="3185398" y="718433"/>
            <a:ext cx="3025178" cy="1778632"/>
          </a:xfrm>
          <a:prstGeom prst="rect">
            <a:avLst/>
          </a:prstGeom>
        </p:spPr>
        <p:txBody>
          <a:bodyPr anchor="t" rtlCol="false" tIns="0" lIns="0" bIns="0" rIns="0">
            <a:spAutoFit/>
          </a:bodyPr>
          <a:lstStyle/>
          <a:p>
            <a:pPr algn="ctr">
              <a:lnSpc>
                <a:spcPts val="10638"/>
              </a:lnSpc>
            </a:pPr>
            <a:r>
              <a:rPr lang="en-US" sz="7598">
                <a:solidFill>
                  <a:srgbClr val="000000"/>
                </a:solidFill>
                <a:latin typeface="Calibri (MS)"/>
                <a:ea typeface="Calibri (MS)"/>
                <a:cs typeface="Calibri (MS)"/>
                <a:sym typeface="Calibri (MS)"/>
              </a:rPr>
              <a:t>Output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55288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2"/>
              <a:stretch>
                <a:fillRect l="0" t="-57" r="0"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6" id="6"/>
          <p:cNvSpPr txBox="true"/>
          <p:nvPr/>
        </p:nvSpPr>
        <p:spPr>
          <a:xfrm rot="0">
            <a:off x="-324888" y="781050"/>
            <a:ext cx="17584188" cy="1039492"/>
          </a:xfrm>
          <a:prstGeom prst="rect">
            <a:avLst/>
          </a:prstGeom>
        </p:spPr>
        <p:txBody>
          <a:bodyPr anchor="t" rtlCol="false" tIns="0" lIns="0" bIns="0" rIns="0">
            <a:spAutoFit/>
          </a:bodyPr>
          <a:lstStyle/>
          <a:p>
            <a:pPr algn="ctr">
              <a:lnSpc>
                <a:spcPts val="7278"/>
              </a:lnSpc>
            </a:pPr>
            <a:r>
              <a:rPr lang="en-US" sz="5198">
                <a:solidFill>
                  <a:srgbClr val="000000"/>
                </a:solidFill>
                <a:latin typeface="Times New Roman"/>
                <a:ea typeface="Times New Roman"/>
                <a:cs typeface="Times New Roman"/>
                <a:sym typeface="Times New Roman"/>
              </a:rPr>
              <a:t>Module 2 : User Input and Movement Control</a:t>
            </a:r>
          </a:p>
        </p:txBody>
      </p:sp>
      <p:sp>
        <p:nvSpPr>
          <p:cNvPr name="TextBox 7" id="7"/>
          <p:cNvSpPr txBox="true"/>
          <p:nvPr/>
        </p:nvSpPr>
        <p:spPr>
          <a:xfrm rot="0">
            <a:off x="2496493" y="2029854"/>
            <a:ext cx="14016885" cy="7514438"/>
          </a:xfrm>
          <a:prstGeom prst="rect">
            <a:avLst/>
          </a:prstGeom>
        </p:spPr>
        <p:txBody>
          <a:bodyPr anchor="t" rtlCol="false" tIns="0" lIns="0" bIns="0" rIns="0">
            <a:spAutoFit/>
          </a:bodyPr>
          <a:lstStyle/>
          <a:p>
            <a:pPr algn="l">
              <a:lnSpc>
                <a:spcPts val="4241"/>
              </a:lnSpc>
            </a:pPr>
            <a:r>
              <a:rPr lang="en-US" sz="3029" b="true">
                <a:solidFill>
                  <a:srgbClr val="000000"/>
                </a:solidFill>
                <a:latin typeface="Calibri (MS) Bold"/>
                <a:ea typeface="Calibri (MS) Bold"/>
                <a:cs typeface="Calibri (MS) Bold"/>
                <a:sym typeface="Calibri (MS) Bold"/>
              </a:rPr>
              <a:t>Purpose: </a:t>
            </a:r>
          </a:p>
          <a:p>
            <a:pPr algn="l">
              <a:lnSpc>
                <a:spcPts val="4241"/>
              </a:lnSpc>
            </a:pPr>
            <a:r>
              <a:rPr lang="en-US" sz="3029">
                <a:solidFill>
                  <a:srgbClr val="000000"/>
                </a:solidFill>
                <a:latin typeface="Calibri (MS)"/>
                <a:ea typeface="Calibri (MS)"/>
                <a:cs typeface="Calibri (MS)"/>
                <a:sym typeface="Calibri (MS)"/>
              </a:rPr>
              <a:t>Manages player input and controls the movement of tiles on the game board.</a:t>
            </a:r>
          </a:p>
          <a:p>
            <a:pPr algn="l">
              <a:lnSpc>
                <a:spcPts val="4241"/>
              </a:lnSpc>
            </a:pPr>
            <a:r>
              <a:rPr lang="en-US" sz="3029" b="true">
                <a:solidFill>
                  <a:srgbClr val="000000"/>
                </a:solidFill>
                <a:latin typeface="Calibri (MS) Bold"/>
                <a:ea typeface="Calibri (MS) Bold"/>
                <a:cs typeface="Calibri (MS) Bold"/>
                <a:sym typeface="Calibri (MS) Bold"/>
              </a:rPr>
              <a:t>Functions:</a:t>
            </a:r>
          </a:p>
          <a:p>
            <a:pPr algn="l" marL="692527" indent="-230842" lvl="2">
              <a:lnSpc>
                <a:spcPts val="4241"/>
              </a:lnSpc>
              <a:buFont typeface="Arial"/>
              <a:buChar char="⚬"/>
            </a:pPr>
            <a:r>
              <a:rPr lang="en-US" sz="3029">
                <a:solidFill>
                  <a:srgbClr val="000000"/>
                </a:solidFill>
                <a:latin typeface="Calibri (MS)"/>
                <a:ea typeface="Calibri (MS)"/>
                <a:cs typeface="Calibri (MS)"/>
                <a:sym typeface="Calibri (MS)"/>
              </a:rPr>
              <a:t>Accept user input (Up, Down, Left, Right)</a:t>
            </a:r>
          </a:p>
          <a:p>
            <a:pPr algn="l" marL="692527" indent="-230842" lvl="2">
              <a:lnSpc>
                <a:spcPts val="4241"/>
              </a:lnSpc>
              <a:buFont typeface="Arial"/>
              <a:buChar char="⚬"/>
            </a:pPr>
            <a:r>
              <a:rPr lang="en-US" sz="3029">
                <a:solidFill>
                  <a:srgbClr val="000000"/>
                </a:solidFill>
                <a:latin typeface="Calibri (MS)"/>
                <a:ea typeface="Calibri (MS)"/>
                <a:cs typeface="Calibri (MS)"/>
                <a:sym typeface="Calibri (MS)"/>
              </a:rPr>
              <a:t>Move tiles in the selected direction</a:t>
            </a:r>
          </a:p>
          <a:p>
            <a:pPr algn="l" marL="692527" indent="-230842" lvl="2">
              <a:lnSpc>
                <a:spcPts val="4241"/>
              </a:lnSpc>
              <a:buFont typeface="Arial"/>
              <a:buChar char="⚬"/>
            </a:pPr>
            <a:r>
              <a:rPr lang="en-US" sz="3029">
                <a:solidFill>
                  <a:srgbClr val="000000"/>
                </a:solidFill>
                <a:latin typeface="Calibri (MS)"/>
                <a:ea typeface="Calibri (MS)"/>
                <a:cs typeface="Calibri (MS)"/>
                <a:sym typeface="Calibri (MS)"/>
              </a:rPr>
              <a:t>Validate player moves</a:t>
            </a:r>
          </a:p>
          <a:p>
            <a:pPr algn="l" marL="692527" indent="-230842" lvl="2">
              <a:lnSpc>
                <a:spcPts val="4241"/>
              </a:lnSpc>
              <a:buFont typeface="Arial"/>
              <a:buChar char="⚬"/>
            </a:pPr>
            <a:r>
              <a:rPr lang="en-US" sz="3029">
                <a:solidFill>
                  <a:srgbClr val="000000"/>
                </a:solidFill>
                <a:latin typeface="Calibri (MS)"/>
                <a:ea typeface="Calibri (MS)"/>
                <a:cs typeface="Calibri (MS)"/>
                <a:sym typeface="Calibri (MS)"/>
              </a:rPr>
              <a:t>Update tile positions on the board</a:t>
            </a:r>
          </a:p>
          <a:p>
            <a:pPr algn="l" marL="692527" indent="-230842" lvl="2">
              <a:lnSpc>
                <a:spcPts val="4241"/>
              </a:lnSpc>
              <a:buFont typeface="Arial"/>
              <a:buChar char="⚬"/>
            </a:pPr>
            <a:r>
              <a:rPr lang="en-US" sz="3029">
                <a:solidFill>
                  <a:srgbClr val="000000"/>
                </a:solidFill>
                <a:latin typeface="Calibri (MS)"/>
                <a:ea typeface="Calibri (MS)"/>
                <a:cs typeface="Calibri (MS)"/>
                <a:sym typeface="Calibri (MS)"/>
              </a:rPr>
              <a:t>Prevent invalid movements</a:t>
            </a:r>
          </a:p>
          <a:p>
            <a:pPr algn="l" marL="692527" indent="-230842" lvl="2">
              <a:lnSpc>
                <a:spcPts val="4241"/>
              </a:lnSpc>
            </a:pPr>
            <a:r>
              <a:rPr lang="en-US" b="true" sz="3029">
                <a:solidFill>
                  <a:srgbClr val="000000"/>
                </a:solidFill>
                <a:latin typeface="Calibri (MS) Bold"/>
                <a:ea typeface="Calibri (MS) Bold"/>
                <a:cs typeface="Calibri (MS) Bold"/>
                <a:sym typeface="Calibri (MS) Bold"/>
              </a:rPr>
              <a:t>Description: </a:t>
            </a:r>
          </a:p>
          <a:p>
            <a:pPr algn="l" marL="692527" indent="-230842" lvl="2">
              <a:lnSpc>
                <a:spcPts val="4241"/>
              </a:lnSpc>
            </a:pPr>
            <a:r>
              <a:rPr lang="en-US" sz="3029">
                <a:solidFill>
                  <a:srgbClr val="000000"/>
                </a:solidFill>
                <a:latin typeface="Calibri (MS)"/>
                <a:ea typeface="Calibri (MS)"/>
                <a:cs typeface="Calibri (MS)"/>
                <a:sym typeface="Calibri (MS)"/>
              </a:rPr>
              <a:t>This module handles all interactions between the player and the game. It receives movement commands from the user and moves the tiles accordingly. The module checks whether the move is valid and updates the board state. It ensures that tiles move correctly within the grid and prepares the board for tile merging and score updates.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55288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3"/>
              <a:stretch>
                <a:fillRect l="0" t="-57" r="0"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4"/>
              <a:stretch>
                <a:fillRect l="0" t="-49" r="0" b="-49"/>
              </a:stretch>
            </a:blipFill>
          </p:spPr>
        </p:sp>
      </p:grpSp>
      <p:grpSp>
        <p:nvGrpSpPr>
          <p:cNvPr name="Group 6" id="6"/>
          <p:cNvGrpSpPr/>
          <p:nvPr/>
        </p:nvGrpSpPr>
        <p:grpSpPr>
          <a:xfrm rot="0">
            <a:off x="3046390" y="3027998"/>
            <a:ext cx="12195219" cy="4230995"/>
            <a:chOff x="0" y="0"/>
            <a:chExt cx="16260293" cy="5641327"/>
          </a:xfrm>
        </p:grpSpPr>
        <p:sp>
          <p:nvSpPr>
            <p:cNvPr name="Freeform 7" id="7"/>
            <p:cNvSpPr/>
            <p:nvPr/>
          </p:nvSpPr>
          <p:spPr>
            <a:xfrm flipH="false" flipV="false" rot="0">
              <a:off x="0" y="0"/>
              <a:ext cx="16260318" cy="5641340"/>
            </a:xfrm>
            <a:custGeom>
              <a:avLst/>
              <a:gdLst/>
              <a:ahLst/>
              <a:cxnLst/>
              <a:rect r="r" b="b" t="t" l="l"/>
              <a:pathLst>
                <a:path h="5641340" w="16260318">
                  <a:moveTo>
                    <a:pt x="0" y="0"/>
                  </a:moveTo>
                  <a:lnTo>
                    <a:pt x="16260318" y="0"/>
                  </a:lnTo>
                  <a:lnTo>
                    <a:pt x="16260318" y="5641340"/>
                  </a:lnTo>
                  <a:lnTo>
                    <a:pt x="0" y="5641340"/>
                  </a:lnTo>
                  <a:lnTo>
                    <a:pt x="0" y="0"/>
                  </a:lnTo>
                  <a:close/>
                </a:path>
              </a:pathLst>
            </a:custGeom>
            <a:blipFill>
              <a:blip r:embed="rId5"/>
              <a:stretch>
                <a:fillRect l="0" t="0" r="0" b="0"/>
              </a:stretch>
            </a:blipFill>
          </p:spPr>
        </p:sp>
      </p:grpSp>
      <p:sp>
        <p:nvSpPr>
          <p:cNvPr name="TextBox 8" id="8"/>
          <p:cNvSpPr txBox="true"/>
          <p:nvPr/>
        </p:nvSpPr>
        <p:spPr>
          <a:xfrm rot="0">
            <a:off x="3488388" y="794633"/>
            <a:ext cx="2742752" cy="1645920"/>
          </a:xfrm>
          <a:prstGeom prst="rect">
            <a:avLst/>
          </a:prstGeom>
        </p:spPr>
        <p:txBody>
          <a:bodyPr anchor="t" rtlCol="false" tIns="0" lIns="0" bIns="0" rIns="0">
            <a:spAutoFit/>
          </a:bodyPr>
          <a:lstStyle/>
          <a:p>
            <a:pPr algn="ctr">
              <a:lnSpc>
                <a:spcPts val="10080"/>
              </a:lnSpc>
            </a:pPr>
            <a:r>
              <a:rPr lang="en-US" sz="7200">
                <a:solidFill>
                  <a:srgbClr val="000000"/>
                </a:solidFill>
                <a:latin typeface="Calibri (MS)"/>
                <a:ea typeface="Calibri (MS)"/>
                <a:cs typeface="Calibri (MS)"/>
                <a:sym typeface="Calibri (MS)"/>
              </a:rPr>
              <a:t>output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0745" y="552888"/>
            <a:ext cx="1621774" cy="1600772"/>
            <a:chOff x="0" y="0"/>
            <a:chExt cx="2162366" cy="2134362"/>
          </a:xfrm>
        </p:grpSpPr>
        <p:sp>
          <p:nvSpPr>
            <p:cNvPr name="Freeform 3" id="3"/>
            <p:cNvSpPr/>
            <p:nvPr/>
          </p:nvSpPr>
          <p:spPr>
            <a:xfrm flipH="false" flipV="false" rot="0">
              <a:off x="0" y="0"/>
              <a:ext cx="2162302" cy="2134362"/>
            </a:xfrm>
            <a:custGeom>
              <a:avLst/>
              <a:gdLst/>
              <a:ahLst/>
              <a:cxnLst/>
              <a:rect r="r" b="b" t="t" l="l"/>
              <a:pathLst>
                <a:path h="2134362" w="2162302">
                  <a:moveTo>
                    <a:pt x="0" y="0"/>
                  </a:moveTo>
                  <a:lnTo>
                    <a:pt x="2162302" y="0"/>
                  </a:lnTo>
                  <a:lnTo>
                    <a:pt x="2162302" y="2134362"/>
                  </a:lnTo>
                  <a:lnTo>
                    <a:pt x="0" y="2134362"/>
                  </a:lnTo>
                  <a:lnTo>
                    <a:pt x="0" y="0"/>
                  </a:lnTo>
                  <a:close/>
                </a:path>
              </a:pathLst>
            </a:custGeom>
            <a:blipFill>
              <a:blip r:embed="rId2"/>
              <a:stretch>
                <a:fillRect l="0" t="-57" r="-2"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6" id="6"/>
          <p:cNvSpPr txBox="true"/>
          <p:nvPr/>
        </p:nvSpPr>
        <p:spPr>
          <a:xfrm rot="0">
            <a:off x="-1464993" y="742950"/>
            <a:ext cx="19752993" cy="1117597"/>
          </a:xfrm>
          <a:prstGeom prst="rect">
            <a:avLst/>
          </a:prstGeom>
        </p:spPr>
        <p:txBody>
          <a:bodyPr anchor="t" rtlCol="false" tIns="0" lIns="0" bIns="0" rIns="0">
            <a:spAutoFit/>
          </a:bodyPr>
          <a:lstStyle/>
          <a:p>
            <a:pPr algn="ctr">
              <a:lnSpc>
                <a:spcPts val="7698"/>
              </a:lnSpc>
            </a:pPr>
            <a:r>
              <a:rPr lang="en-US" sz="5498">
                <a:solidFill>
                  <a:srgbClr val="000000"/>
                </a:solidFill>
                <a:latin typeface="Times New Roman"/>
                <a:ea typeface="Times New Roman"/>
                <a:cs typeface="Times New Roman"/>
                <a:sym typeface="Times New Roman"/>
              </a:rPr>
              <a:t>Module 3: Tile Merging and Board Update</a:t>
            </a:r>
          </a:p>
        </p:txBody>
      </p:sp>
      <p:sp>
        <p:nvSpPr>
          <p:cNvPr name="TextBox 7" id="7"/>
          <p:cNvSpPr txBox="true"/>
          <p:nvPr/>
        </p:nvSpPr>
        <p:spPr>
          <a:xfrm rot="0">
            <a:off x="2508218" y="2029854"/>
            <a:ext cx="12950695" cy="6986858"/>
          </a:xfrm>
          <a:prstGeom prst="rect">
            <a:avLst/>
          </a:prstGeom>
        </p:spPr>
        <p:txBody>
          <a:bodyPr anchor="t" rtlCol="false" tIns="0" lIns="0" bIns="0" rIns="0">
            <a:spAutoFit/>
          </a:bodyPr>
          <a:lstStyle/>
          <a:p>
            <a:pPr algn="l">
              <a:lnSpc>
                <a:spcPts val="3920"/>
              </a:lnSpc>
            </a:pPr>
            <a:r>
              <a:rPr lang="en-US" sz="2799" b="true">
                <a:solidFill>
                  <a:srgbClr val="000000"/>
                </a:solidFill>
                <a:latin typeface="Calibri (MS) Bold"/>
                <a:ea typeface="Calibri (MS) Bold"/>
                <a:cs typeface="Calibri (MS) Bold"/>
                <a:sym typeface="Calibri (MS) Bold"/>
              </a:rPr>
              <a:t>Purpose: </a:t>
            </a:r>
          </a:p>
          <a:p>
            <a:pPr algn="l">
              <a:lnSpc>
                <a:spcPts val="3920"/>
              </a:lnSpc>
            </a:pPr>
            <a:r>
              <a:rPr lang="en-US" sz="2799">
                <a:solidFill>
                  <a:srgbClr val="000000"/>
                </a:solidFill>
                <a:latin typeface="Calibri (MS)"/>
                <a:ea typeface="Calibri (MS)"/>
                <a:cs typeface="Calibri (MS)"/>
                <a:sym typeface="Calibri (MS)"/>
              </a:rPr>
              <a:t>Manages the merging of tiles with the same value and updates the game board after each move.</a:t>
            </a:r>
          </a:p>
          <a:p>
            <a:pPr algn="l">
              <a:lnSpc>
                <a:spcPts val="3920"/>
              </a:lnSpc>
            </a:pPr>
            <a:r>
              <a:rPr lang="en-US" sz="2799" b="true">
                <a:solidFill>
                  <a:srgbClr val="000000"/>
                </a:solidFill>
                <a:latin typeface="Calibri (MS) Bold"/>
                <a:ea typeface="Calibri (MS) Bold"/>
                <a:cs typeface="Calibri (MS) Bold"/>
                <a:sym typeface="Calibri (MS) Bold"/>
              </a:rPr>
              <a:t>Functions:</a:t>
            </a:r>
          </a:p>
          <a:p>
            <a:pPr algn="l" marL="640170" indent="-213390" lvl="2">
              <a:lnSpc>
                <a:spcPts val="3920"/>
              </a:lnSpc>
              <a:buFont typeface="Arial"/>
              <a:buChar char="⚬"/>
            </a:pPr>
            <a:r>
              <a:rPr lang="en-US" sz="2799">
                <a:solidFill>
                  <a:srgbClr val="000000"/>
                </a:solidFill>
                <a:latin typeface="Calibri (MS)"/>
                <a:ea typeface="Calibri (MS)"/>
                <a:cs typeface="Calibri (MS)"/>
                <a:sym typeface="Calibri (MS)"/>
              </a:rPr>
              <a:t>Identify adjacent tiles with the same value</a:t>
            </a:r>
          </a:p>
          <a:p>
            <a:pPr algn="l" marL="640170" indent="-213390" lvl="2">
              <a:lnSpc>
                <a:spcPts val="3920"/>
              </a:lnSpc>
              <a:buFont typeface="Arial"/>
              <a:buChar char="⚬"/>
            </a:pPr>
            <a:r>
              <a:rPr lang="en-US" sz="2799">
                <a:solidFill>
                  <a:srgbClr val="000000"/>
                </a:solidFill>
                <a:latin typeface="Calibri (MS)"/>
                <a:ea typeface="Calibri (MS)"/>
                <a:cs typeface="Calibri (MS)"/>
                <a:sym typeface="Calibri (MS)"/>
              </a:rPr>
              <a:t>Merge matching tiles into a single tile</a:t>
            </a:r>
          </a:p>
          <a:p>
            <a:pPr algn="l" marL="640170" indent="-213390" lvl="2">
              <a:lnSpc>
                <a:spcPts val="3920"/>
              </a:lnSpc>
              <a:buFont typeface="Arial"/>
              <a:buChar char="⚬"/>
            </a:pPr>
            <a:r>
              <a:rPr lang="en-US" sz="2799">
                <a:solidFill>
                  <a:srgbClr val="000000"/>
                </a:solidFill>
                <a:latin typeface="Calibri (MS)"/>
                <a:ea typeface="Calibri (MS)"/>
                <a:cs typeface="Calibri (MS)"/>
                <a:sym typeface="Calibri (MS)"/>
              </a:rPr>
              <a:t>Double the tile value after merging</a:t>
            </a:r>
          </a:p>
          <a:p>
            <a:pPr algn="l" marL="640170" indent="-213390" lvl="2">
              <a:lnSpc>
                <a:spcPts val="3920"/>
              </a:lnSpc>
              <a:buFont typeface="Arial"/>
              <a:buChar char="⚬"/>
            </a:pPr>
            <a:r>
              <a:rPr lang="en-US" sz="2799">
                <a:solidFill>
                  <a:srgbClr val="000000"/>
                </a:solidFill>
                <a:latin typeface="Calibri (MS)"/>
                <a:ea typeface="Calibri (MS)"/>
                <a:cs typeface="Calibri (MS)"/>
                <a:sym typeface="Calibri (MS)"/>
              </a:rPr>
              <a:t>Update the player's score</a:t>
            </a:r>
          </a:p>
          <a:p>
            <a:pPr algn="l" marL="640170" indent="-213390" lvl="2">
              <a:lnSpc>
                <a:spcPts val="3920"/>
              </a:lnSpc>
              <a:buFont typeface="Arial"/>
              <a:buChar char="⚬"/>
            </a:pPr>
            <a:r>
              <a:rPr lang="en-US" sz="2799">
                <a:solidFill>
                  <a:srgbClr val="000000"/>
                </a:solidFill>
                <a:latin typeface="Calibri (MS)"/>
                <a:ea typeface="Calibri (MS)"/>
                <a:cs typeface="Calibri (MS)"/>
                <a:sym typeface="Calibri (MS)"/>
              </a:rPr>
              <a:t>Add a new random tile after a valid move</a:t>
            </a:r>
          </a:p>
          <a:p>
            <a:pPr algn="l" marL="640170" indent="-213390" lvl="2">
              <a:lnSpc>
                <a:spcPts val="3920"/>
              </a:lnSpc>
              <a:buFont typeface="Arial"/>
              <a:buChar char="⚬"/>
            </a:pPr>
            <a:r>
              <a:rPr lang="en-US" sz="2799">
                <a:solidFill>
                  <a:srgbClr val="000000"/>
                </a:solidFill>
                <a:latin typeface="Calibri (MS)"/>
                <a:ea typeface="Calibri (MS)"/>
                <a:cs typeface="Calibri (MS)"/>
                <a:sym typeface="Calibri (MS)"/>
              </a:rPr>
              <a:t>Refresh the game board display</a:t>
            </a:r>
          </a:p>
          <a:p>
            <a:pPr algn="l">
              <a:lnSpc>
                <a:spcPts val="3920"/>
              </a:lnSpc>
            </a:pPr>
            <a:r>
              <a:rPr lang="en-US" b="true" sz="2799">
                <a:solidFill>
                  <a:srgbClr val="000000"/>
                </a:solidFill>
                <a:latin typeface="Calibri (MS) Bold"/>
                <a:ea typeface="Calibri (MS) Bold"/>
                <a:cs typeface="Calibri (MS) Bold"/>
                <a:sym typeface="Calibri (MS) Bold"/>
              </a:rPr>
              <a:t>Description:</a:t>
            </a:r>
          </a:p>
          <a:p>
            <a:pPr algn="l" marL="640170" indent="-213390" lvl="2">
              <a:lnSpc>
                <a:spcPts val="3920"/>
              </a:lnSpc>
            </a:pPr>
            <a:r>
              <a:rPr lang="en-US" sz="2799">
                <a:solidFill>
                  <a:srgbClr val="000000"/>
                </a:solidFill>
                <a:latin typeface="Calibri (MS)"/>
                <a:ea typeface="Calibri (MS)"/>
                <a:cs typeface="Calibri (MS)"/>
                <a:sym typeface="Calibri (MS)"/>
              </a:rPr>
              <a:t>This module combines tiles with the same value when</a:t>
            </a:r>
            <a:r>
              <a:rPr lang="en-US" b="true" sz="2799">
                <a:solidFill>
                  <a:srgbClr val="000000"/>
                </a:solidFill>
                <a:latin typeface="Calibri (MS) Bold"/>
                <a:ea typeface="Calibri (MS) Bold"/>
                <a:cs typeface="Calibri (MS) Bold"/>
                <a:sym typeface="Calibri (MS) Bold"/>
              </a:rPr>
              <a:t> </a:t>
            </a:r>
            <a:r>
              <a:rPr lang="en-US" sz="2799">
                <a:solidFill>
                  <a:srgbClr val="000000"/>
                </a:solidFill>
                <a:latin typeface="Calibri (MS)"/>
                <a:ea typeface="Calibri (MS)"/>
                <a:cs typeface="Calibri (MS)"/>
                <a:sym typeface="Calibri (MS)"/>
              </a:rPr>
              <a:t>they are moved together. After merging, the</a:t>
            </a:r>
            <a:r>
              <a:rPr lang="en-US" b="true" sz="2799">
                <a:solidFill>
                  <a:srgbClr val="000000"/>
                </a:solidFill>
                <a:latin typeface="Calibri (MS) Bold"/>
                <a:ea typeface="Calibri (MS) Bold"/>
                <a:cs typeface="Calibri (MS) Bold"/>
                <a:sym typeface="Calibri (MS) Bold"/>
              </a:rPr>
              <a:t> </a:t>
            </a:r>
            <a:r>
              <a:rPr lang="en-US" sz="2799">
                <a:solidFill>
                  <a:srgbClr val="000000"/>
                </a:solidFill>
                <a:latin typeface="Calibri (MS)"/>
                <a:ea typeface="Calibri (MS)"/>
                <a:cs typeface="Calibri (MS)"/>
                <a:sym typeface="Calibri (MS)"/>
              </a:rPr>
              <a:t>board is updated, and a new tile is added to an empty position. It helps the player create larger-number tiles and continue the game.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55288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3"/>
              <a:stretch>
                <a:fillRect l="0" t="-57" r="0"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4"/>
              <a:stretch>
                <a:fillRect l="0" t="-49" r="0" b="-49"/>
              </a:stretch>
            </a:blipFill>
          </p:spPr>
        </p:sp>
      </p:grpSp>
      <p:grpSp>
        <p:nvGrpSpPr>
          <p:cNvPr name="Group 6" id="6"/>
          <p:cNvGrpSpPr/>
          <p:nvPr/>
        </p:nvGrpSpPr>
        <p:grpSpPr>
          <a:xfrm rot="0">
            <a:off x="2964437" y="3185008"/>
            <a:ext cx="12359126" cy="3916985"/>
            <a:chOff x="0" y="0"/>
            <a:chExt cx="16478834" cy="5222646"/>
          </a:xfrm>
        </p:grpSpPr>
        <p:sp>
          <p:nvSpPr>
            <p:cNvPr name="Freeform 7" id="7"/>
            <p:cNvSpPr/>
            <p:nvPr/>
          </p:nvSpPr>
          <p:spPr>
            <a:xfrm flipH="false" flipV="false" rot="0">
              <a:off x="0" y="0"/>
              <a:ext cx="16478886" cy="5222621"/>
            </a:xfrm>
            <a:custGeom>
              <a:avLst/>
              <a:gdLst/>
              <a:ahLst/>
              <a:cxnLst/>
              <a:rect r="r" b="b" t="t" l="l"/>
              <a:pathLst>
                <a:path h="5222621" w="16478886">
                  <a:moveTo>
                    <a:pt x="0" y="0"/>
                  </a:moveTo>
                  <a:lnTo>
                    <a:pt x="16478886" y="0"/>
                  </a:lnTo>
                  <a:lnTo>
                    <a:pt x="16478886" y="5222621"/>
                  </a:lnTo>
                  <a:lnTo>
                    <a:pt x="0" y="5222621"/>
                  </a:lnTo>
                  <a:lnTo>
                    <a:pt x="0" y="0"/>
                  </a:lnTo>
                  <a:close/>
                </a:path>
              </a:pathLst>
            </a:custGeom>
            <a:blipFill>
              <a:blip r:embed="rId5"/>
              <a:stretch>
                <a:fillRect l="0" t="0" r="0" b="0"/>
              </a:stretch>
            </a:blipFill>
          </p:spPr>
        </p:sp>
      </p:grpSp>
      <p:sp>
        <p:nvSpPr>
          <p:cNvPr name="TextBox 8" id="8"/>
          <p:cNvSpPr txBox="true"/>
          <p:nvPr/>
        </p:nvSpPr>
        <p:spPr>
          <a:xfrm rot="0">
            <a:off x="1301744" y="809349"/>
            <a:ext cx="5703922" cy="1645920"/>
          </a:xfrm>
          <a:prstGeom prst="rect">
            <a:avLst/>
          </a:prstGeom>
        </p:spPr>
        <p:txBody>
          <a:bodyPr anchor="t" rtlCol="false" tIns="0" lIns="0" bIns="0" rIns="0">
            <a:spAutoFit/>
          </a:bodyPr>
          <a:lstStyle/>
          <a:p>
            <a:pPr algn="ctr">
              <a:lnSpc>
                <a:spcPts val="10080"/>
              </a:lnSpc>
            </a:pPr>
            <a:r>
              <a:rPr lang="en-US" sz="7200">
                <a:solidFill>
                  <a:srgbClr val="000000"/>
                </a:solidFill>
                <a:latin typeface="Calibri (MS)"/>
                <a:ea typeface="Calibri (MS)"/>
                <a:cs typeface="Calibri (MS)"/>
                <a:sym typeface="Calibri (MS)"/>
              </a:rPr>
              <a:t>output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0745" y="552888"/>
            <a:ext cx="1621774" cy="1600772"/>
            <a:chOff x="0" y="0"/>
            <a:chExt cx="2162366" cy="2134362"/>
          </a:xfrm>
        </p:grpSpPr>
        <p:sp>
          <p:nvSpPr>
            <p:cNvPr name="Freeform 3" id="3"/>
            <p:cNvSpPr/>
            <p:nvPr/>
          </p:nvSpPr>
          <p:spPr>
            <a:xfrm flipH="false" flipV="false" rot="0">
              <a:off x="0" y="0"/>
              <a:ext cx="2162302" cy="2134362"/>
            </a:xfrm>
            <a:custGeom>
              <a:avLst/>
              <a:gdLst/>
              <a:ahLst/>
              <a:cxnLst/>
              <a:rect r="r" b="b" t="t" l="l"/>
              <a:pathLst>
                <a:path h="2134362" w="2162302">
                  <a:moveTo>
                    <a:pt x="0" y="0"/>
                  </a:moveTo>
                  <a:lnTo>
                    <a:pt x="2162302" y="0"/>
                  </a:lnTo>
                  <a:lnTo>
                    <a:pt x="2162302" y="2134362"/>
                  </a:lnTo>
                  <a:lnTo>
                    <a:pt x="0" y="2134362"/>
                  </a:lnTo>
                  <a:lnTo>
                    <a:pt x="0" y="0"/>
                  </a:lnTo>
                  <a:close/>
                </a:path>
              </a:pathLst>
            </a:custGeom>
            <a:blipFill>
              <a:blip r:embed="rId2"/>
              <a:stretch>
                <a:fillRect l="0" t="-57" r="-2"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6" id="6"/>
          <p:cNvSpPr txBox="true"/>
          <p:nvPr/>
        </p:nvSpPr>
        <p:spPr>
          <a:xfrm rot="0">
            <a:off x="-346231" y="555398"/>
            <a:ext cx="18276427" cy="1357627"/>
          </a:xfrm>
          <a:prstGeom prst="rect">
            <a:avLst/>
          </a:prstGeom>
        </p:spPr>
        <p:txBody>
          <a:bodyPr anchor="t" rtlCol="false" tIns="0" lIns="0" bIns="0" rIns="0">
            <a:spAutoFit/>
          </a:bodyPr>
          <a:lstStyle/>
          <a:p>
            <a:pPr algn="ctr">
              <a:lnSpc>
                <a:spcPts val="8118"/>
              </a:lnSpc>
            </a:pPr>
            <a:r>
              <a:rPr lang="en-US" sz="5798">
                <a:solidFill>
                  <a:srgbClr val="000000"/>
                </a:solidFill>
                <a:latin typeface="Calibri (MS)"/>
                <a:ea typeface="Calibri (MS)"/>
                <a:cs typeface="Calibri (MS)"/>
                <a:sym typeface="Calibri (MS)"/>
              </a:rPr>
              <a:t>Module 4: Win and Game Over Detection</a:t>
            </a:r>
          </a:p>
        </p:txBody>
      </p:sp>
      <p:sp>
        <p:nvSpPr>
          <p:cNvPr name="TextBox 7" id="7"/>
          <p:cNvSpPr txBox="true"/>
          <p:nvPr/>
        </p:nvSpPr>
        <p:spPr>
          <a:xfrm rot="0">
            <a:off x="2356075" y="1789200"/>
            <a:ext cx="11494156" cy="7482133"/>
          </a:xfrm>
          <a:prstGeom prst="rect">
            <a:avLst/>
          </a:prstGeom>
        </p:spPr>
        <p:txBody>
          <a:bodyPr anchor="t" rtlCol="false" tIns="0" lIns="0" bIns="0" rIns="0">
            <a:spAutoFit/>
          </a:bodyPr>
          <a:lstStyle/>
          <a:p>
            <a:pPr algn="l">
              <a:lnSpc>
                <a:spcPts val="3920"/>
              </a:lnSpc>
            </a:pPr>
            <a:r>
              <a:rPr lang="en-US" sz="2799" b="true">
                <a:solidFill>
                  <a:srgbClr val="000000"/>
                </a:solidFill>
                <a:latin typeface="Calibri (MS) Bold"/>
                <a:ea typeface="Calibri (MS) Bold"/>
                <a:cs typeface="Calibri (MS) Bold"/>
                <a:sym typeface="Calibri (MS) Bold"/>
              </a:rPr>
              <a:t>Purpose:</a:t>
            </a:r>
          </a:p>
          <a:p>
            <a:pPr algn="l">
              <a:lnSpc>
                <a:spcPts val="3920"/>
              </a:lnSpc>
            </a:pPr>
            <a:r>
              <a:rPr lang="en-US" sz="2799">
                <a:solidFill>
                  <a:srgbClr val="000000"/>
                </a:solidFill>
                <a:latin typeface="Calibri (MS)"/>
                <a:ea typeface="Calibri (MS)"/>
                <a:cs typeface="Calibri (MS)"/>
                <a:sym typeface="Calibri (MS)"/>
              </a:rPr>
              <a:t> Determines whether the player has won the game or if no more moves are available.</a:t>
            </a:r>
          </a:p>
          <a:p>
            <a:pPr algn="l">
              <a:lnSpc>
                <a:spcPts val="3920"/>
              </a:lnSpc>
            </a:pPr>
            <a:r>
              <a:rPr lang="en-US" sz="2799" b="true">
                <a:solidFill>
                  <a:srgbClr val="000000"/>
                </a:solidFill>
                <a:latin typeface="Calibri (MS) Bold"/>
                <a:ea typeface="Calibri (MS) Bold"/>
                <a:cs typeface="Calibri (MS) Bold"/>
                <a:sym typeface="Calibri (MS) Bold"/>
              </a:rPr>
              <a:t>Functions:</a:t>
            </a:r>
          </a:p>
          <a:p>
            <a:pPr algn="l" marL="640175" indent="-213392" lvl="2">
              <a:lnSpc>
                <a:spcPts val="3920"/>
              </a:lnSpc>
              <a:buFont typeface="Arial"/>
              <a:buChar char="⚬"/>
            </a:pPr>
            <a:r>
              <a:rPr lang="en-US" sz="2799">
                <a:solidFill>
                  <a:srgbClr val="000000"/>
                </a:solidFill>
                <a:latin typeface="Calibri (MS)"/>
                <a:ea typeface="Calibri (MS)"/>
                <a:cs typeface="Calibri (MS)"/>
                <a:sym typeface="Calibri (MS)"/>
              </a:rPr>
              <a:t>Check for the 2048 tile</a:t>
            </a:r>
          </a:p>
          <a:p>
            <a:pPr algn="l" marL="640175" indent="-213392" lvl="2">
              <a:lnSpc>
                <a:spcPts val="3920"/>
              </a:lnSpc>
              <a:buFont typeface="Arial"/>
              <a:buChar char="⚬"/>
            </a:pPr>
            <a:r>
              <a:rPr lang="en-US" sz="2799">
                <a:solidFill>
                  <a:srgbClr val="000000"/>
                </a:solidFill>
                <a:latin typeface="Calibri (MS)"/>
                <a:ea typeface="Calibri (MS)"/>
                <a:cs typeface="Calibri (MS)"/>
                <a:sym typeface="Calibri (MS)"/>
              </a:rPr>
              <a:t>Detect winning condition</a:t>
            </a:r>
          </a:p>
          <a:p>
            <a:pPr algn="l" marL="640175" indent="-213392" lvl="2">
              <a:lnSpc>
                <a:spcPts val="3920"/>
              </a:lnSpc>
              <a:buFont typeface="Arial"/>
              <a:buChar char="⚬"/>
            </a:pPr>
            <a:r>
              <a:rPr lang="en-US" sz="2799">
                <a:solidFill>
                  <a:srgbClr val="000000"/>
                </a:solidFill>
                <a:latin typeface="Calibri (MS)"/>
                <a:ea typeface="Calibri (MS)"/>
                <a:cs typeface="Calibri (MS)"/>
                <a:sym typeface="Calibri (MS)"/>
              </a:rPr>
              <a:t>Check for available moves</a:t>
            </a:r>
          </a:p>
          <a:p>
            <a:pPr algn="l" marL="640175" indent="-213392" lvl="2">
              <a:lnSpc>
                <a:spcPts val="3920"/>
              </a:lnSpc>
              <a:buFont typeface="Arial"/>
              <a:buChar char="⚬"/>
            </a:pPr>
            <a:r>
              <a:rPr lang="en-US" sz="2799">
                <a:solidFill>
                  <a:srgbClr val="000000"/>
                </a:solidFill>
                <a:latin typeface="Calibri (MS)"/>
                <a:ea typeface="Calibri (MS)"/>
                <a:cs typeface="Calibri (MS)"/>
                <a:sym typeface="Calibri (MS)"/>
              </a:rPr>
              <a:t>Detect game over condition</a:t>
            </a:r>
          </a:p>
          <a:p>
            <a:pPr algn="l" marL="640175" indent="-213392" lvl="2">
              <a:lnSpc>
                <a:spcPts val="3920"/>
              </a:lnSpc>
              <a:buFont typeface="Arial"/>
              <a:buChar char="⚬"/>
            </a:pPr>
            <a:r>
              <a:rPr lang="en-US" sz="2799">
                <a:solidFill>
                  <a:srgbClr val="000000"/>
                </a:solidFill>
                <a:latin typeface="Calibri (MS)"/>
                <a:ea typeface="Calibri (MS)"/>
                <a:cs typeface="Calibri (MS)"/>
                <a:sym typeface="Calibri (MS)"/>
              </a:rPr>
              <a:t>Display win or game over message</a:t>
            </a:r>
          </a:p>
          <a:p>
            <a:pPr algn="l" marL="640175" indent="-213392" lvl="2">
              <a:lnSpc>
                <a:spcPts val="3920"/>
              </a:lnSpc>
              <a:buFont typeface="Arial"/>
              <a:buChar char="⚬"/>
            </a:pPr>
            <a:r>
              <a:rPr lang="en-US" sz="2799">
                <a:solidFill>
                  <a:srgbClr val="000000"/>
                </a:solidFill>
                <a:latin typeface="Calibri (MS)"/>
                <a:ea typeface="Calibri (MS)"/>
                <a:cs typeface="Calibri (MS)"/>
                <a:sym typeface="Calibri (MS)"/>
              </a:rPr>
              <a:t>Show the final score</a:t>
            </a:r>
          </a:p>
          <a:p>
            <a:pPr algn="l">
              <a:lnSpc>
                <a:spcPts val="3919"/>
              </a:lnSpc>
            </a:pPr>
            <a:r>
              <a:rPr lang="en-US" b="true" sz="2799">
                <a:solidFill>
                  <a:srgbClr val="000000"/>
                </a:solidFill>
                <a:latin typeface="Calibri (MS) Bold"/>
                <a:ea typeface="Calibri (MS) Bold"/>
                <a:cs typeface="Calibri (MS) Bold"/>
                <a:sym typeface="Calibri (MS) Bold"/>
              </a:rPr>
              <a:t>Description:</a:t>
            </a:r>
          </a:p>
          <a:p>
            <a:pPr algn="l">
              <a:lnSpc>
                <a:spcPts val="3920"/>
              </a:lnSpc>
            </a:pPr>
            <a:r>
              <a:rPr lang="en-US" sz="2799">
                <a:solidFill>
                  <a:srgbClr val="000000"/>
                </a:solidFill>
                <a:latin typeface="Calibri (MS)"/>
                <a:ea typeface="Calibri (MS)"/>
                <a:cs typeface="Calibri (MS)"/>
                <a:sym typeface="Calibri (MS)"/>
              </a:rPr>
              <a:t>This module checks whether the player has reached the 2048 tile and won the game. It also detects when no more moves are possible and displays the game-over message. This helps determine the final status of the game.</a:t>
            </a:r>
          </a:p>
          <a:p>
            <a:pPr algn="l" marL="640175" indent="-213392" lvl="2">
              <a:lnSpc>
                <a:spcPts val="3920"/>
              </a:lnSpc>
            </a:pPr>
            <a:r>
              <a:rPr lang="en-US" sz="2799">
                <a:solidFill>
                  <a:srgbClr val="000000"/>
                </a:solidFill>
                <a:latin typeface="Calibri (MS)"/>
                <a:ea typeface="Calibri (MS)"/>
                <a:cs typeface="Calibri (MS)"/>
                <a:sym typeface="Calibri (MS)"/>
              </a:rPr>
              <a:t>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0745" y="552888"/>
            <a:ext cx="1621774" cy="1600772"/>
            <a:chOff x="0" y="0"/>
            <a:chExt cx="2162366" cy="2134362"/>
          </a:xfrm>
        </p:grpSpPr>
        <p:sp>
          <p:nvSpPr>
            <p:cNvPr name="Freeform 3" id="3"/>
            <p:cNvSpPr/>
            <p:nvPr/>
          </p:nvSpPr>
          <p:spPr>
            <a:xfrm flipH="false" flipV="false" rot="0">
              <a:off x="0" y="0"/>
              <a:ext cx="2162302" cy="2134362"/>
            </a:xfrm>
            <a:custGeom>
              <a:avLst/>
              <a:gdLst/>
              <a:ahLst/>
              <a:cxnLst/>
              <a:rect r="r" b="b" t="t" l="l"/>
              <a:pathLst>
                <a:path h="2134362" w="2162302">
                  <a:moveTo>
                    <a:pt x="0" y="0"/>
                  </a:moveTo>
                  <a:lnTo>
                    <a:pt x="2162302" y="0"/>
                  </a:lnTo>
                  <a:lnTo>
                    <a:pt x="2162302" y="2134362"/>
                  </a:lnTo>
                  <a:lnTo>
                    <a:pt x="0" y="2134362"/>
                  </a:lnTo>
                  <a:lnTo>
                    <a:pt x="0" y="0"/>
                  </a:lnTo>
                  <a:close/>
                </a:path>
              </a:pathLst>
            </a:custGeom>
            <a:blipFill>
              <a:blip r:embed="rId2"/>
              <a:stretch>
                <a:fillRect l="0" t="-57" r="-2"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grpSp>
        <p:nvGrpSpPr>
          <p:cNvPr name="Group 6" id="6"/>
          <p:cNvGrpSpPr/>
          <p:nvPr/>
        </p:nvGrpSpPr>
        <p:grpSpPr>
          <a:xfrm rot="0">
            <a:off x="2941568" y="2230384"/>
            <a:ext cx="12404874" cy="5826223"/>
            <a:chOff x="0" y="0"/>
            <a:chExt cx="16539832" cy="7768298"/>
          </a:xfrm>
        </p:grpSpPr>
        <p:sp>
          <p:nvSpPr>
            <p:cNvPr name="Freeform 7" id="7"/>
            <p:cNvSpPr/>
            <p:nvPr/>
          </p:nvSpPr>
          <p:spPr>
            <a:xfrm flipH="false" flipV="false" rot="0">
              <a:off x="0" y="0"/>
              <a:ext cx="16539845" cy="7768336"/>
            </a:xfrm>
            <a:custGeom>
              <a:avLst/>
              <a:gdLst/>
              <a:ahLst/>
              <a:cxnLst/>
              <a:rect r="r" b="b" t="t" l="l"/>
              <a:pathLst>
                <a:path h="7768336" w="16539845">
                  <a:moveTo>
                    <a:pt x="0" y="0"/>
                  </a:moveTo>
                  <a:lnTo>
                    <a:pt x="16539845" y="0"/>
                  </a:lnTo>
                  <a:lnTo>
                    <a:pt x="16539845" y="7768336"/>
                  </a:lnTo>
                  <a:lnTo>
                    <a:pt x="0" y="7768336"/>
                  </a:lnTo>
                  <a:lnTo>
                    <a:pt x="0" y="0"/>
                  </a:lnTo>
                  <a:close/>
                </a:path>
              </a:pathLst>
            </a:custGeom>
            <a:blipFill>
              <a:blip r:embed="rId4"/>
              <a:stretch>
                <a:fillRect l="0" t="0" r="0" b="0"/>
              </a:stretch>
            </a:blipFill>
          </p:spPr>
        </p:sp>
      </p:grpSp>
      <p:sp>
        <p:nvSpPr>
          <p:cNvPr name="TextBox 8" id="8"/>
          <p:cNvSpPr txBox="true"/>
          <p:nvPr/>
        </p:nvSpPr>
        <p:spPr>
          <a:xfrm rot="0">
            <a:off x="1281627" y="300923"/>
            <a:ext cx="6658718" cy="1596390"/>
          </a:xfrm>
          <a:prstGeom prst="rect">
            <a:avLst/>
          </a:prstGeom>
        </p:spPr>
        <p:txBody>
          <a:bodyPr anchor="t" rtlCol="false" tIns="0" lIns="0" bIns="0" rIns="0">
            <a:spAutoFit/>
          </a:bodyPr>
          <a:lstStyle/>
          <a:p>
            <a:pPr algn="ctr">
              <a:lnSpc>
                <a:spcPts val="9660"/>
              </a:lnSpc>
            </a:pPr>
            <a:r>
              <a:rPr lang="en-US" sz="6900">
                <a:solidFill>
                  <a:srgbClr val="000000"/>
                </a:solidFill>
                <a:latin typeface="Calibri (MS)"/>
                <a:ea typeface="Calibri (MS)"/>
                <a:cs typeface="Calibri (MS)"/>
                <a:sym typeface="Calibri (MS)"/>
              </a:rPr>
              <a:t>output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55288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3"/>
              <a:stretch>
                <a:fillRect l="0" t="-57" r="0"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4"/>
              <a:stretch>
                <a:fillRect l="0" t="-49" r="0" b="-49"/>
              </a:stretch>
            </a:blipFill>
          </p:spPr>
        </p:sp>
      </p:grpSp>
      <p:grpSp>
        <p:nvGrpSpPr>
          <p:cNvPr name="Group 6" id="6"/>
          <p:cNvGrpSpPr/>
          <p:nvPr/>
        </p:nvGrpSpPr>
        <p:grpSpPr>
          <a:xfrm rot="0">
            <a:off x="5753967" y="1028700"/>
            <a:ext cx="6043489" cy="8773335"/>
            <a:chOff x="0" y="0"/>
            <a:chExt cx="8057985" cy="11697780"/>
          </a:xfrm>
        </p:grpSpPr>
        <p:sp>
          <p:nvSpPr>
            <p:cNvPr name="Freeform 7" id="7"/>
            <p:cNvSpPr/>
            <p:nvPr/>
          </p:nvSpPr>
          <p:spPr>
            <a:xfrm flipH="false" flipV="false" rot="0">
              <a:off x="0" y="0"/>
              <a:ext cx="8058023" cy="11697843"/>
            </a:xfrm>
            <a:custGeom>
              <a:avLst/>
              <a:gdLst/>
              <a:ahLst/>
              <a:cxnLst/>
              <a:rect r="r" b="b" t="t" l="l"/>
              <a:pathLst>
                <a:path h="11697843" w="8058023">
                  <a:moveTo>
                    <a:pt x="0" y="0"/>
                  </a:moveTo>
                  <a:lnTo>
                    <a:pt x="8058023" y="0"/>
                  </a:lnTo>
                  <a:lnTo>
                    <a:pt x="8058023" y="11697843"/>
                  </a:lnTo>
                  <a:lnTo>
                    <a:pt x="0" y="11697843"/>
                  </a:lnTo>
                  <a:lnTo>
                    <a:pt x="0" y="0"/>
                  </a:lnTo>
                  <a:close/>
                </a:path>
              </a:pathLst>
            </a:custGeom>
            <a:blipFill>
              <a:blip r:embed="rId5"/>
              <a:stretch>
                <a:fillRect l="0" t="-26587" r="0" b="-26587"/>
              </a:stretch>
            </a:blipFill>
          </p:spPr>
        </p:sp>
      </p:grpSp>
      <p:sp>
        <p:nvSpPr>
          <p:cNvPr name="TextBox 8" id="8"/>
          <p:cNvSpPr txBox="true"/>
          <p:nvPr/>
        </p:nvSpPr>
        <p:spPr>
          <a:xfrm rot="0">
            <a:off x="-3788474" y="-89287"/>
            <a:ext cx="17928412" cy="1028700"/>
          </a:xfrm>
          <a:prstGeom prst="rect">
            <a:avLst/>
          </a:prstGeom>
        </p:spPr>
        <p:txBody>
          <a:bodyPr anchor="t" rtlCol="false" tIns="0" lIns="0" bIns="0" rIns="0">
            <a:spAutoFit/>
          </a:bodyPr>
          <a:lstStyle/>
          <a:p>
            <a:pPr algn="ctr">
              <a:lnSpc>
                <a:spcPts val="6298"/>
              </a:lnSpc>
            </a:pPr>
            <a:r>
              <a:rPr lang="en-US" sz="4500">
                <a:solidFill>
                  <a:srgbClr val="000000"/>
                </a:solidFill>
                <a:latin typeface="Calibri (MS)"/>
                <a:ea typeface="Calibri (MS)"/>
                <a:cs typeface="Calibri (MS)"/>
                <a:sym typeface="Calibri (MS)"/>
              </a:rPr>
              <a:t>Final Output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55288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2"/>
              <a:stretch>
                <a:fillRect l="0" t="-57" r="0"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6" id="6"/>
          <p:cNvSpPr txBox="true"/>
          <p:nvPr/>
        </p:nvSpPr>
        <p:spPr>
          <a:xfrm rot="0">
            <a:off x="-1991516" y="809625"/>
            <a:ext cx="14089340" cy="1067435"/>
          </a:xfrm>
          <a:prstGeom prst="rect">
            <a:avLst/>
          </a:prstGeom>
        </p:spPr>
        <p:txBody>
          <a:bodyPr anchor="t" rtlCol="false" tIns="0" lIns="0" bIns="0" rIns="0">
            <a:spAutoFit/>
          </a:bodyPr>
          <a:lstStyle/>
          <a:p>
            <a:pPr algn="ctr">
              <a:lnSpc>
                <a:spcPts val="7840"/>
              </a:lnSpc>
            </a:pPr>
            <a:r>
              <a:rPr lang="en-US" sz="5600">
                <a:solidFill>
                  <a:srgbClr val="000000"/>
                </a:solidFill>
                <a:latin typeface="Calibri (MS)"/>
                <a:ea typeface="Calibri (MS)"/>
                <a:cs typeface="Calibri (MS)"/>
                <a:sym typeface="Calibri (MS)"/>
              </a:rPr>
              <a:t>ADVANTAGE </a:t>
            </a:r>
          </a:p>
        </p:txBody>
      </p:sp>
      <p:sp>
        <p:nvSpPr>
          <p:cNvPr name="TextBox 7" id="7"/>
          <p:cNvSpPr txBox="true"/>
          <p:nvPr/>
        </p:nvSpPr>
        <p:spPr>
          <a:xfrm rot="0">
            <a:off x="2092519" y="2029854"/>
            <a:ext cx="12191726" cy="4510427"/>
          </a:xfrm>
          <a:prstGeom prst="rect">
            <a:avLst/>
          </a:prstGeom>
        </p:spPr>
        <p:txBody>
          <a:bodyPr anchor="t" rtlCol="false" tIns="0" lIns="0" bIns="0" rIns="0">
            <a:spAutoFit/>
          </a:bodyPr>
          <a:lstStyle/>
          <a:p>
            <a:pPr algn="l" marL="640104" indent="-213368" lvl="2">
              <a:lnSpc>
                <a:spcPts val="3919"/>
              </a:lnSpc>
              <a:buFont typeface="Arial"/>
              <a:buChar char="⚬"/>
            </a:pPr>
            <a:r>
              <a:rPr lang="en-US" sz="2799">
                <a:solidFill>
                  <a:srgbClr val="000000"/>
                </a:solidFill>
                <a:latin typeface="Calibri (MS)"/>
                <a:ea typeface="Calibri (MS)"/>
                <a:cs typeface="Calibri (MS)"/>
                <a:sym typeface="Calibri (MS)"/>
              </a:rPr>
              <a:t>Improves Logical Thinking – Helps players think logically and make smart decisions.</a:t>
            </a:r>
          </a:p>
          <a:p>
            <a:pPr algn="l" marL="640104" indent="-213368" lvl="2">
              <a:lnSpc>
                <a:spcPts val="3919"/>
              </a:lnSpc>
              <a:buFont typeface="Arial"/>
              <a:buChar char="⚬"/>
            </a:pPr>
            <a:r>
              <a:rPr lang="en-US" sz="2799">
                <a:solidFill>
                  <a:srgbClr val="000000"/>
                </a:solidFill>
                <a:latin typeface="Calibri (MS)"/>
                <a:ea typeface="Calibri (MS)"/>
                <a:cs typeface="Calibri (MS)"/>
                <a:sym typeface="Calibri (MS)"/>
              </a:rPr>
              <a:t>Enhances Problem-Solving Skills – Encourages finding the best moves to achieve the goal.</a:t>
            </a:r>
          </a:p>
          <a:p>
            <a:pPr algn="l" marL="640104" indent="-213368" lvl="2">
              <a:lnSpc>
                <a:spcPts val="3919"/>
              </a:lnSpc>
              <a:buFont typeface="Arial"/>
              <a:buChar char="⚬"/>
            </a:pPr>
            <a:r>
              <a:rPr lang="en-US" sz="2799">
                <a:solidFill>
                  <a:srgbClr val="000000"/>
                </a:solidFill>
                <a:latin typeface="Calibri (MS)"/>
                <a:ea typeface="Calibri (MS)"/>
                <a:cs typeface="Calibri (MS)"/>
                <a:sym typeface="Calibri (MS)"/>
              </a:rPr>
              <a:t>Develops Strategic Planning – Requires planning ahead to avoid losing.</a:t>
            </a:r>
          </a:p>
          <a:p>
            <a:pPr algn="l" marL="640104" indent="-213368" lvl="2">
              <a:lnSpc>
                <a:spcPts val="3919"/>
              </a:lnSpc>
              <a:buFont typeface="Arial"/>
              <a:buChar char="⚬"/>
            </a:pPr>
            <a:r>
              <a:rPr lang="en-US" sz="2799">
                <a:solidFill>
                  <a:srgbClr val="000000"/>
                </a:solidFill>
                <a:latin typeface="Calibri (MS)"/>
                <a:ea typeface="Calibri (MS)"/>
                <a:cs typeface="Calibri (MS)"/>
                <a:sym typeface="Calibri (MS)"/>
              </a:rPr>
              <a:t>Increases Concentration – Improves focus and attention during gameplay.</a:t>
            </a:r>
          </a:p>
          <a:p>
            <a:pPr algn="l" marL="640104" indent="-213368" lvl="2">
              <a:lnSpc>
                <a:spcPts val="3919"/>
              </a:lnSpc>
              <a:buFont typeface="Arial"/>
              <a:buChar char="⚬"/>
            </a:pPr>
            <a:r>
              <a:rPr lang="en-US" sz="2799">
                <a:solidFill>
                  <a:srgbClr val="000000"/>
                </a:solidFill>
                <a:latin typeface="Calibri (MS)"/>
                <a:ea typeface="Calibri (MS)"/>
                <a:cs typeface="Calibri (MS)"/>
                <a:sym typeface="Calibri (MS)"/>
              </a:rPr>
              <a:t>Easy to Learn – Simple rules make it accessible for beginners.</a:t>
            </a:r>
          </a:p>
          <a:p>
            <a:pPr algn="l" marL="640104" indent="-213368" lvl="2">
              <a:lnSpc>
                <a:spcPts val="3919"/>
              </a:lnSpc>
              <a:buFont typeface="Arial"/>
              <a:buChar char="⚬"/>
            </a:pPr>
            <a:r>
              <a:rPr lang="en-US" sz="2799">
                <a:solidFill>
                  <a:srgbClr val="000000"/>
                </a:solidFill>
                <a:latin typeface="Calibri (MS)"/>
                <a:ea typeface="Calibri (MS)"/>
                <a:cs typeface="Calibri (MS)"/>
                <a:sym typeface="Calibri (MS)"/>
              </a:rPr>
              <a:t>Provides Entertainment – Offers a fun and engaging gaming experience.</a:t>
            </a:r>
          </a:p>
          <a:p>
            <a:pPr algn="l" marL="640104" indent="-213368" lvl="2">
              <a:lnSpc>
                <a:spcPts val="3919"/>
              </a:lnSpc>
              <a:buFont typeface="Arial"/>
              <a:buChar char="⚬"/>
            </a:pPr>
            <a:r>
              <a:rPr lang="en-US" sz="2799">
                <a:solidFill>
                  <a:srgbClr val="000000"/>
                </a:solidFill>
                <a:latin typeface="Calibri (MS)"/>
                <a:ea typeface="Calibri (MS)"/>
                <a:cs typeface="Calibri (MS)"/>
                <a:sym typeface="Calibri (MS)"/>
              </a:rPr>
              <a:t>Boosts Memory Skills – Helps players remember patterns and strategies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55288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2"/>
              <a:stretch>
                <a:fillRect l="0" t="-57" r="0"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6" id="6"/>
          <p:cNvSpPr txBox="true"/>
          <p:nvPr/>
        </p:nvSpPr>
        <p:spPr>
          <a:xfrm rot="0">
            <a:off x="-1683500" y="809625"/>
            <a:ext cx="13910396" cy="1067435"/>
          </a:xfrm>
          <a:prstGeom prst="rect">
            <a:avLst/>
          </a:prstGeom>
        </p:spPr>
        <p:txBody>
          <a:bodyPr anchor="t" rtlCol="false" tIns="0" lIns="0" bIns="0" rIns="0">
            <a:spAutoFit/>
          </a:bodyPr>
          <a:lstStyle/>
          <a:p>
            <a:pPr algn="ctr">
              <a:lnSpc>
                <a:spcPts val="7840"/>
              </a:lnSpc>
            </a:pPr>
            <a:r>
              <a:rPr lang="en-US" sz="5600">
                <a:solidFill>
                  <a:srgbClr val="000000"/>
                </a:solidFill>
                <a:latin typeface="Calibri (MS)"/>
                <a:ea typeface="Calibri (MS)"/>
                <a:cs typeface="Calibri (MS)"/>
                <a:sym typeface="Calibri (MS)"/>
              </a:rPr>
              <a:t>DISADVANTAGES</a:t>
            </a:r>
          </a:p>
        </p:txBody>
      </p:sp>
      <p:sp>
        <p:nvSpPr>
          <p:cNvPr name="TextBox 7" id="7"/>
          <p:cNvSpPr txBox="true"/>
          <p:nvPr/>
        </p:nvSpPr>
        <p:spPr>
          <a:xfrm rot="0">
            <a:off x="2092519" y="2029854"/>
            <a:ext cx="12322438" cy="6491560"/>
          </a:xfrm>
          <a:prstGeom prst="rect">
            <a:avLst/>
          </a:prstGeom>
        </p:spPr>
        <p:txBody>
          <a:bodyPr anchor="t" rtlCol="false" tIns="0" lIns="0" bIns="0" rIns="0">
            <a:spAutoFit/>
          </a:bodyPr>
          <a:lstStyle/>
          <a:p>
            <a:pPr algn="l" marL="640150" indent="-213383" lvl="2">
              <a:lnSpc>
                <a:spcPts val="3920"/>
              </a:lnSpc>
              <a:buFont typeface="Arial"/>
              <a:buChar char="⚬"/>
            </a:pPr>
            <a:r>
              <a:rPr lang="en-US" sz="2799">
                <a:solidFill>
                  <a:srgbClr val="000000"/>
                </a:solidFill>
                <a:latin typeface="Calibri (MS)"/>
                <a:ea typeface="Calibri (MS)"/>
                <a:cs typeface="Calibri (MS)"/>
                <a:sym typeface="Calibri (MS)"/>
              </a:rPr>
              <a:t>Can Be Addictive – Players may spend excessive time trying to achieve higher scores.</a:t>
            </a:r>
          </a:p>
          <a:p>
            <a:pPr algn="l" marL="640150" indent="-213383" lvl="2">
              <a:lnSpc>
                <a:spcPts val="3920"/>
              </a:lnSpc>
              <a:buFont typeface="Arial"/>
              <a:buChar char="⚬"/>
            </a:pPr>
            <a:r>
              <a:rPr lang="en-US" sz="2799">
                <a:solidFill>
                  <a:srgbClr val="000000"/>
                </a:solidFill>
                <a:latin typeface="Calibri (MS)"/>
                <a:ea typeface="Calibri (MS)"/>
                <a:cs typeface="Calibri (MS)"/>
                <a:sym typeface="Calibri (MS)"/>
              </a:rPr>
              <a:t>Limited Gameplay Variety – The game follows the same rules and objectives throughout.</a:t>
            </a:r>
          </a:p>
          <a:p>
            <a:pPr algn="l" marL="640150" indent="-213383" lvl="2">
              <a:lnSpc>
                <a:spcPts val="3920"/>
              </a:lnSpc>
              <a:buFont typeface="Arial"/>
              <a:buChar char="⚬"/>
            </a:pPr>
            <a:r>
              <a:rPr lang="en-US" sz="2799">
                <a:solidFill>
                  <a:srgbClr val="000000"/>
                </a:solidFill>
                <a:latin typeface="Calibri (MS)"/>
                <a:ea typeface="Calibri (MS)"/>
                <a:cs typeface="Calibri (MS)"/>
                <a:sym typeface="Calibri (MS)"/>
              </a:rPr>
              <a:t>May Become Repetitive – Repeated moves can make the game feel monotonous over time.</a:t>
            </a:r>
          </a:p>
          <a:p>
            <a:pPr algn="l" marL="640150" indent="-213383" lvl="2">
              <a:lnSpc>
                <a:spcPts val="3920"/>
              </a:lnSpc>
              <a:buFont typeface="Arial"/>
              <a:buChar char="⚬"/>
            </a:pPr>
            <a:r>
              <a:rPr lang="en-US" sz="2799">
                <a:solidFill>
                  <a:srgbClr val="000000"/>
                </a:solidFill>
                <a:latin typeface="Calibri (MS)"/>
                <a:ea typeface="Calibri (MS)"/>
                <a:cs typeface="Calibri (MS)"/>
                <a:sym typeface="Calibri (MS)"/>
              </a:rPr>
              <a:t>Requires Continuous Attention – Losing focus can lead to mistakes and game over.</a:t>
            </a:r>
          </a:p>
          <a:p>
            <a:pPr algn="l" marL="640150" indent="-213383" lvl="2">
              <a:lnSpc>
                <a:spcPts val="3920"/>
              </a:lnSpc>
              <a:buFont typeface="Arial"/>
              <a:buChar char="⚬"/>
            </a:pPr>
            <a:r>
              <a:rPr lang="en-US" sz="2799">
                <a:solidFill>
                  <a:srgbClr val="000000"/>
                </a:solidFill>
                <a:latin typeface="Calibri (MS)"/>
                <a:ea typeface="Calibri (MS)"/>
                <a:cs typeface="Calibri (MS)"/>
                <a:sym typeface="Calibri (MS)"/>
              </a:rPr>
              <a:t>No Multiplayer Option – Standard 2048 is designed for a single player only.</a:t>
            </a:r>
          </a:p>
          <a:p>
            <a:pPr algn="l" marL="640150" indent="-213383" lvl="2">
              <a:lnSpc>
                <a:spcPts val="3920"/>
              </a:lnSpc>
              <a:buFont typeface="Arial"/>
              <a:buChar char="⚬"/>
            </a:pPr>
            <a:r>
              <a:rPr lang="en-US" sz="2799">
                <a:solidFill>
                  <a:srgbClr val="000000"/>
                </a:solidFill>
                <a:latin typeface="Calibri (MS)"/>
                <a:ea typeface="Calibri (MS)"/>
                <a:cs typeface="Calibri (MS)"/>
                <a:sym typeface="Calibri (MS)"/>
              </a:rPr>
              <a:t>Success Depends on Luck and Strategy – Random tile generation can sometimes make the game difficult.</a:t>
            </a:r>
          </a:p>
          <a:p>
            <a:pPr algn="l" marL="640150" indent="-213383" lvl="2">
              <a:lnSpc>
                <a:spcPts val="3920"/>
              </a:lnSpc>
              <a:buFont typeface="Arial"/>
              <a:buChar char="⚬"/>
            </a:pPr>
            <a:r>
              <a:rPr lang="en-US" sz="2799">
                <a:solidFill>
                  <a:srgbClr val="000000"/>
                </a:solidFill>
                <a:latin typeface="Calibri (MS)"/>
                <a:ea typeface="Calibri (MS)"/>
                <a:cs typeface="Calibri (MS)"/>
                <a:sym typeface="Calibri (MS)"/>
              </a:rPr>
              <a:t>May Cause Frustration – Reaching the 2048 tile can be challenging for some players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55288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2"/>
              <a:stretch>
                <a:fillRect l="0" t="-57" r="0"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6" id="6"/>
          <p:cNvSpPr txBox="true"/>
          <p:nvPr/>
        </p:nvSpPr>
        <p:spPr>
          <a:xfrm rot="0">
            <a:off x="-824852" y="1095289"/>
            <a:ext cx="10913421" cy="1374143"/>
          </a:xfrm>
          <a:prstGeom prst="rect">
            <a:avLst/>
          </a:prstGeom>
        </p:spPr>
        <p:txBody>
          <a:bodyPr anchor="t" rtlCol="false" tIns="0" lIns="0" bIns="0" rIns="0">
            <a:spAutoFit/>
          </a:bodyPr>
          <a:lstStyle/>
          <a:p>
            <a:pPr algn="ctr">
              <a:lnSpc>
                <a:spcPts val="8260"/>
              </a:lnSpc>
            </a:pPr>
            <a:r>
              <a:rPr lang="en-US" sz="5899">
                <a:solidFill>
                  <a:srgbClr val="000000"/>
                </a:solidFill>
                <a:latin typeface="Calibri (MS)"/>
                <a:ea typeface="Calibri (MS)"/>
                <a:cs typeface="Calibri (MS)"/>
                <a:sym typeface="Calibri (MS)"/>
              </a:rPr>
              <a:t>Conclusion </a:t>
            </a:r>
          </a:p>
        </p:txBody>
      </p:sp>
      <p:sp>
        <p:nvSpPr>
          <p:cNvPr name="TextBox 7" id="7"/>
          <p:cNvSpPr txBox="true"/>
          <p:nvPr/>
        </p:nvSpPr>
        <p:spPr>
          <a:xfrm rot="0">
            <a:off x="2450469" y="2345607"/>
            <a:ext cx="11868693" cy="4612996"/>
          </a:xfrm>
          <a:prstGeom prst="rect">
            <a:avLst/>
          </a:prstGeom>
        </p:spPr>
        <p:txBody>
          <a:bodyPr anchor="t" rtlCol="false" tIns="0" lIns="0" bIns="0" rIns="0">
            <a:spAutoFit/>
          </a:bodyPr>
          <a:lstStyle/>
          <a:p>
            <a:pPr algn="l">
              <a:lnSpc>
                <a:spcPts val="4569"/>
              </a:lnSpc>
            </a:pPr>
            <a:r>
              <a:rPr lang="en-US" sz="3264">
                <a:solidFill>
                  <a:srgbClr val="000000"/>
                </a:solidFill>
                <a:latin typeface="Calibri (MS)"/>
                <a:ea typeface="Calibri (MS)"/>
                <a:cs typeface="Calibri (MS)"/>
                <a:sym typeface="Calibri (MS)"/>
              </a:rPr>
              <a:t>The 2048 Game is an engaging and educational puzzle game that combines entertainment with learning. It helps improve logical thinking, problem-solving skills, concentration, and strategic planning. The game is simple to understand but challenging to master, making it enjoyable for players of all ages. Through tile merging and careful decision-making, players work toward achieving the 2048 tile. Overall, the project successfully demonstrates game development concepts while providing a fun and mentally stimulating experience.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55288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2"/>
              <a:stretch>
                <a:fillRect l="0" t="-57" r="0"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6" id="6"/>
          <p:cNvSpPr txBox="true"/>
          <p:nvPr/>
        </p:nvSpPr>
        <p:spPr>
          <a:xfrm rot="0">
            <a:off x="2092519" y="2632153"/>
            <a:ext cx="11120047" cy="3126716"/>
          </a:xfrm>
          <a:prstGeom prst="rect">
            <a:avLst/>
          </a:prstGeom>
        </p:spPr>
        <p:txBody>
          <a:bodyPr anchor="t" rtlCol="false" tIns="0" lIns="0" bIns="0" rIns="0">
            <a:spAutoFit/>
          </a:bodyPr>
          <a:lstStyle/>
          <a:p>
            <a:pPr algn="l" marL="662989" indent="-220996" lvl="2">
              <a:lnSpc>
                <a:spcPts val="4060"/>
              </a:lnSpc>
              <a:buFont typeface="Arial"/>
              <a:buChar char="⚬"/>
            </a:pPr>
            <a:r>
              <a:rPr lang="en-US" sz="2900">
                <a:solidFill>
                  <a:srgbClr val="000000"/>
                </a:solidFill>
                <a:latin typeface="Calibri (MS)"/>
                <a:ea typeface="Calibri (MS)"/>
                <a:cs typeface="Calibri (MS)"/>
                <a:sym typeface="Calibri (MS)"/>
              </a:rPr>
              <a:t>python.org – Programming language used to develop the game.</a:t>
            </a:r>
          </a:p>
          <a:p>
            <a:pPr algn="l" marL="662989" indent="-220996" lvl="2">
              <a:lnSpc>
                <a:spcPts val="4060"/>
              </a:lnSpc>
              <a:buFont typeface="Arial"/>
              <a:buChar char="⚬"/>
            </a:pPr>
            <a:r>
              <a:rPr lang="en-US" sz="2900">
                <a:solidFill>
                  <a:srgbClr val="000000"/>
                </a:solidFill>
                <a:latin typeface="Calibri (MS)"/>
                <a:ea typeface="Calibri (MS)"/>
                <a:cs typeface="Calibri (MS)"/>
                <a:sym typeface="Calibri (MS)"/>
              </a:rPr>
              <a:t>jetbrains.com– Used for writing and debugging Python code.</a:t>
            </a:r>
          </a:p>
          <a:p>
            <a:pPr algn="l" marL="662989" indent="-220996" lvl="2">
              <a:lnSpc>
                <a:spcPts val="4060"/>
              </a:lnSpc>
              <a:buFont typeface="Arial"/>
              <a:buChar char="⚬"/>
            </a:pPr>
            <a:r>
              <a:rPr lang="en-US" sz="2900">
                <a:solidFill>
                  <a:srgbClr val="000000"/>
                </a:solidFill>
                <a:latin typeface="Calibri (MS)"/>
                <a:ea typeface="Calibri (MS)"/>
                <a:cs typeface="Calibri (MS)"/>
                <a:sym typeface="Calibri (MS)"/>
              </a:rPr>
              <a:t>code.visualstudio.com – Alternative code editor for development.</a:t>
            </a:r>
          </a:p>
          <a:p>
            <a:pPr algn="l" marL="662989" indent="-220996" lvl="2">
              <a:lnSpc>
                <a:spcPts val="4060"/>
              </a:lnSpc>
              <a:buFont typeface="Arial"/>
              <a:buChar char="⚬"/>
            </a:pPr>
            <a:r>
              <a:rPr lang="en-US" sz="2900">
                <a:solidFill>
                  <a:srgbClr val="000000"/>
                </a:solidFill>
                <a:latin typeface="Calibri (MS)"/>
                <a:ea typeface="Calibri (MS)"/>
                <a:cs typeface="Calibri (MS)"/>
                <a:sym typeface="Calibri (MS)"/>
              </a:rPr>
              <a:t>pygame.org– Python library used for creating the game interface and controls.</a:t>
            </a:r>
          </a:p>
          <a:p>
            <a:pPr algn="l" marL="662989" indent="-220996" lvl="2">
              <a:lnSpc>
                <a:spcPts val="4060"/>
              </a:lnSpc>
              <a:buFont typeface="Arial"/>
              <a:buChar char="⚬"/>
            </a:pPr>
            <a:r>
              <a:rPr lang="en-US" sz="2900">
                <a:solidFill>
                  <a:srgbClr val="000000"/>
                </a:solidFill>
                <a:latin typeface="Calibri (MS)"/>
                <a:ea typeface="Calibri (MS)"/>
                <a:cs typeface="Calibri (MS)"/>
                <a:sym typeface="Calibri (MS)"/>
              </a:rPr>
              <a:t>github.com– Used for source code storage and version control.</a:t>
            </a:r>
          </a:p>
        </p:txBody>
      </p:sp>
      <p:sp>
        <p:nvSpPr>
          <p:cNvPr name="TextBox 7" id="7"/>
          <p:cNvSpPr txBox="true"/>
          <p:nvPr/>
        </p:nvSpPr>
        <p:spPr>
          <a:xfrm rot="0">
            <a:off x="-726458" y="1313255"/>
            <a:ext cx="11150117" cy="1433198"/>
          </a:xfrm>
          <a:prstGeom prst="rect">
            <a:avLst/>
          </a:prstGeom>
        </p:spPr>
        <p:txBody>
          <a:bodyPr anchor="t" rtlCol="false" tIns="0" lIns="0" bIns="0" rIns="0">
            <a:spAutoFit/>
          </a:bodyPr>
          <a:lstStyle/>
          <a:p>
            <a:pPr algn="ctr">
              <a:lnSpc>
                <a:spcPts val="8679"/>
              </a:lnSpc>
            </a:pPr>
            <a:r>
              <a:rPr lang="en-US" sz="6199">
                <a:solidFill>
                  <a:srgbClr val="000000"/>
                </a:solidFill>
                <a:latin typeface="Calibri (MS)"/>
                <a:ea typeface="Calibri (MS)"/>
                <a:cs typeface="Calibri (MS)"/>
                <a:sym typeface="Calibri (MS)"/>
              </a:rPr>
              <a:t>REFERENCE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552888"/>
            <a:ext cx="1581531" cy="1561052"/>
            <a:chOff x="0" y="0"/>
            <a:chExt cx="2108708" cy="2081403"/>
          </a:xfrm>
        </p:grpSpPr>
        <p:sp>
          <p:nvSpPr>
            <p:cNvPr name="Freeform 3" id="3"/>
            <p:cNvSpPr/>
            <p:nvPr/>
          </p:nvSpPr>
          <p:spPr>
            <a:xfrm flipH="false" flipV="false" rot="0">
              <a:off x="0" y="0"/>
              <a:ext cx="2108708" cy="2081403"/>
            </a:xfrm>
            <a:custGeom>
              <a:avLst/>
              <a:gdLst/>
              <a:ahLst/>
              <a:cxnLst/>
              <a:rect r="r" b="b" t="t" l="l"/>
              <a:pathLst>
                <a:path h="2081403" w="2108708">
                  <a:moveTo>
                    <a:pt x="0" y="0"/>
                  </a:moveTo>
                  <a:lnTo>
                    <a:pt x="2108708" y="0"/>
                  </a:lnTo>
                  <a:lnTo>
                    <a:pt x="2108708" y="2081403"/>
                  </a:lnTo>
                  <a:lnTo>
                    <a:pt x="0" y="2081403"/>
                  </a:lnTo>
                  <a:lnTo>
                    <a:pt x="0" y="0"/>
                  </a:lnTo>
                  <a:close/>
                </a:path>
              </a:pathLst>
            </a:custGeom>
            <a:blipFill>
              <a:blip r:embed="rId2"/>
              <a:stretch>
                <a:fillRect l="0" t="-57" r="0" b="-57"/>
              </a:stretch>
            </a:blipFill>
          </p:spPr>
        </p:sp>
      </p:grpSp>
      <p:grpSp>
        <p:nvGrpSpPr>
          <p:cNvPr name="Group 4" id="4"/>
          <p:cNvGrpSpPr/>
          <p:nvPr/>
        </p:nvGrpSpPr>
        <p:grpSpPr>
          <a:xfrm rot="0">
            <a:off x="15458913" y="540525"/>
            <a:ext cx="2108930" cy="1613154"/>
            <a:chOff x="0" y="0"/>
            <a:chExt cx="2811907" cy="2150872"/>
          </a:xfrm>
        </p:grpSpPr>
        <p:sp>
          <p:nvSpPr>
            <p:cNvPr name="Freeform 5" id="5"/>
            <p:cNvSpPr/>
            <p:nvPr/>
          </p:nvSpPr>
          <p:spPr>
            <a:xfrm flipH="false" flipV="false" rot="0">
              <a:off x="0" y="0"/>
              <a:ext cx="2811907" cy="2150872"/>
            </a:xfrm>
            <a:custGeom>
              <a:avLst/>
              <a:gdLst/>
              <a:ahLst/>
              <a:cxnLst/>
              <a:rect r="r" b="b" t="t" l="l"/>
              <a:pathLst>
                <a:path h="2150872" w="2811907">
                  <a:moveTo>
                    <a:pt x="0" y="0"/>
                  </a:moveTo>
                  <a:lnTo>
                    <a:pt x="2811907" y="0"/>
                  </a:lnTo>
                  <a:lnTo>
                    <a:pt x="2811907" y="2150872"/>
                  </a:lnTo>
                  <a:lnTo>
                    <a:pt x="0" y="2150872"/>
                  </a:lnTo>
                  <a:lnTo>
                    <a:pt x="0" y="0"/>
                  </a:lnTo>
                  <a:close/>
                </a:path>
              </a:pathLst>
            </a:custGeom>
            <a:blipFill>
              <a:blip r:embed="rId3"/>
              <a:stretch>
                <a:fillRect l="0" t="-49" r="0" b="-49"/>
              </a:stretch>
            </a:blipFill>
          </p:spPr>
        </p:sp>
      </p:grpSp>
      <p:sp>
        <p:nvSpPr>
          <p:cNvPr name="TextBox 6" id="6"/>
          <p:cNvSpPr txBox="true"/>
          <p:nvPr/>
        </p:nvSpPr>
        <p:spPr>
          <a:xfrm rot="0">
            <a:off x="2588718" y="3219348"/>
            <a:ext cx="12870195" cy="1924152"/>
          </a:xfrm>
          <a:prstGeom prst="rect">
            <a:avLst/>
          </a:prstGeom>
        </p:spPr>
        <p:txBody>
          <a:bodyPr anchor="t" rtlCol="false" tIns="0" lIns="0" bIns="0" rIns="0">
            <a:spAutoFit/>
          </a:bodyPr>
          <a:lstStyle/>
          <a:p>
            <a:pPr algn="ctr">
              <a:lnSpc>
                <a:spcPts val="15742"/>
              </a:lnSpc>
            </a:pPr>
            <a:r>
              <a:rPr lang="en-US" sz="11244" b="true">
                <a:solidFill>
                  <a:srgbClr val="000000"/>
                </a:solidFill>
                <a:latin typeface="Canva Sans Bold"/>
                <a:ea typeface="Canva Sans Bold"/>
                <a:cs typeface="Canva Sans Bold"/>
                <a:sym typeface="Canva San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DAHLoQGf2fc</dc:identifier>
  <dcterms:modified xsi:type="dcterms:W3CDTF">2011-08-01T06:04:30Z</dcterms:modified>
  <cp:revision>1</cp:revision>
  <dc:title>8115U25IT091 p.pptx</dc:title>
</cp:coreProperties>
</file>